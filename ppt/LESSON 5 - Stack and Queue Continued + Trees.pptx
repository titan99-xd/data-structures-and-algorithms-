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9"/>
  </p:notesMasterIdLst>
  <p:sldIdLst>
    <p:sldId id="256" r:id="rId2"/>
    <p:sldId id="376" r:id="rId3"/>
    <p:sldId id="424" r:id="rId4"/>
    <p:sldId id="421" r:id="rId5"/>
    <p:sldId id="422" r:id="rId6"/>
    <p:sldId id="425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338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  <a:srgbClr val="FF5000"/>
    <a:srgbClr val="53565A"/>
    <a:srgbClr val="5A5A5A"/>
    <a:srgbClr val="E95D0F"/>
    <a:srgbClr val="00A0E1"/>
    <a:srgbClr val="FFF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4857" autoAdjust="0"/>
  </p:normalViewPr>
  <p:slideViewPr>
    <p:cSldViewPr snapToGrid="0" snapToObjects="1">
      <p:cViewPr varScale="1">
        <p:scale>
          <a:sx n="78" d="100"/>
          <a:sy n="78" d="100"/>
        </p:scale>
        <p:origin x="1325" y="86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0C426-ABB5-484D-B716-1CF93F0C2624}" type="datetimeFigureOut">
              <a:rPr lang="en-FI" smtClean="0"/>
              <a:t>01/27/2026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027FC-488F-154D-812F-E7571538DDB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4966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8725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2EAB-71B0-6856-2F2E-85DBFE32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0E4F5-7DB1-BFC1-5DB6-3666E5E91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582BD-D8F7-769B-CA15-420056CD4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76466-17A0-B5AD-3D87-5ACF8D5A8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77118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5D93-654C-1DEA-8212-54839AB2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121D3C33-71B4-451A-935C-E2BF96EB7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3CAD7307-EA78-9326-A00F-B0EE89E15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20048ADC-5C07-9FFF-7E75-73B68DEF6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80132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FABA-07AC-42D5-7C7C-437E399E6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3658FEA7-CF88-89B8-7B59-FABC9FFD7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F0F08742-D55E-FA66-341C-41928F823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1342BF6A-524E-00EC-01C4-BCFCDF3EA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58148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FCAC9-8DF2-361D-70FA-C79C0082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05106951-48DC-E3BA-6BA5-56CDF9604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487576D9-7347-2E84-335E-00A2F5EA5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5E62985B-BEB4-C452-F1E6-47287E608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28041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BE17-92C2-8A23-FFE0-53C7EFD9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C914F323-1E96-16F8-BAF4-AEAD2B0B6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74CDC473-8E1F-0B89-A7A9-236E303B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4D7ABA85-5F09-9C45-FEE8-F7D5EDB28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50492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98F5-DC1F-AD00-DD25-064358A1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BB5B8AAF-735F-6438-F625-8E3494207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35BE7059-ECB2-F7ED-4368-C0868F759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866FCA43-5DD3-6D56-EB82-4220D1960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65300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6E288-CC94-0A66-5C02-158E60CB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459F6693-D98F-8C8F-46FC-DC00CAE73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29315950-185A-C0C1-8348-F6CB36ADB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7DAF6220-EA30-052D-FECC-D88735DED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50405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D6C0-B6BF-38ED-FC05-698CE1CB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C166C139-B2B2-706D-0187-B4E44EB7F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5759A47A-1806-AD5D-463A-1DFCC5A4A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F96D6CF8-7E50-03E9-8857-3DB3AC33A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47992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92F6-DD7A-77C0-D60D-0308B64D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3F4763EB-5813-A906-DB13-10EF77E3D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D9F82C3C-F020-096F-4DD8-1AD950239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56FCE2E5-6684-27D5-E49A-0B72BD11F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0283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356C-72D7-684C-FF3C-3079E1B4F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78E3E3EC-EF2E-36CF-0A28-EB21FEF17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F2A10D44-AF7D-4E1B-E569-6961B93D7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C5EC82A0-3801-EE80-7BFE-381602D4F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27243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BF23-F348-CD04-0CA0-93A776D79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42D50D79-052D-9C93-495A-9E3B3D9ED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8266BAE1-764E-23E4-BFF3-96A7D60C8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8A74BE41-7091-6A2A-3AC6-F5199D816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10547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7F786-D1C1-2BD8-AB8A-EE2E83B5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3706651A-13B9-F77E-F9BE-759151C69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6B9594D2-E785-35EF-4FD8-9E6F9D092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E0EC6915-E07C-D297-3949-F177949C4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6217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6552-8082-BC35-6896-98C26652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66AD55AC-BEF7-FCE1-B701-08F414EAC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FBE6A9CC-9851-9FF7-6394-10DAD133A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6F6107AA-0D16-4F1D-346D-46E5E192E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56620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B155-7335-2319-E5A4-623EB5D6C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D49D9E39-B967-A03B-FFEA-E45149DE1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43E24A89-84B2-6FF4-982D-1FB356356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ED48AED8-3240-BDD0-758B-4C3C74A61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0451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DA637-4DBD-604C-44A2-BCB9A817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DEFD70CB-1EA8-BBE5-25D0-391E9CF80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60F05BF7-3DEF-A1C4-4497-7B1A20944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0818A207-60BF-053E-042E-24712D8CD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99343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FFBB-7BF6-7F51-5997-56D7F7E8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E9098-1A13-170D-B2AC-53CEA9324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0E1B1-D724-437E-008D-A769339B4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A2BF4-D807-6527-C52D-8170F8EE6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7134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12EC4-E081-5747-BC9C-6ED420CBB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2D5D5-8D69-4EE8-998A-AFCB860D5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CC5D4E-371B-D868-6ACE-FCD7CA4B68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9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836A4C-B8F3-4A06-B45C-3490E7A0C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A9CAF-808D-B45D-DB7F-37FF800F5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7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F88AF-B055-4B9A-95B0-E2F7806A5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DCA138-7B9C-0DFD-09BC-4BF5D70AAE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7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DDF97-2893-1442-AC4B-CA4A313DF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FD717-35FA-47B1-ACD5-5093B88F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D18EF6-494E-74ED-7BC9-6C7CA1BA1D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9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316388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468F9-53F1-07A1-B3D6-423D64292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9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707F-5A56-7E4C-BB06-31D0E29E7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69925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6CB06-4BA3-A6DD-631E-FE12AE472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1F5BD8-5755-4649-A5A9-D795BACA3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7632313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7632313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71502-0770-BBAC-4D92-728A6CC8E4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3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2E91DB-40C0-2A45-B643-F8FAF408C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886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6A4E4-9D17-CC93-B793-511DB5A90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2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47B53E-896C-8747-9BB8-4FDEA4D75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156" y="1891456"/>
            <a:ext cx="5580769" cy="1306408"/>
          </a:xfrm>
        </p:spPr>
        <p:txBody>
          <a:bodyPr/>
          <a:lstStyle>
            <a:lvl1pPr>
              <a:defRPr>
                <a:solidFill>
                  <a:srgbClr val="FF5000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59D9-6DE1-4053-8C9B-5AE4BAFD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B91147-7A96-F9F1-1AF0-4AC6682D1C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2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A93D4E-1CE0-7148-8EFC-D3906E47E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0A127-6F0F-49BB-9F1B-5C900142E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581364-5D15-F8E5-E6C3-5CFF375C4E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8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5F1AB5-C4FC-764C-9CDD-A8C635A1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A44D8-D3F5-4744-8A4E-E1BD976D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E5224-1214-4F7A-A134-C9152647F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60225-6889-DC7B-7F46-C280A0FA5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39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622C8-44FF-B641-87C8-0B3497E28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A20AB-EF22-4AA1-A51E-0B2C734E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A742F9-5931-C31A-CA8E-8FF1C80216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23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96169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936A6-D3F8-4C94-9D0F-5A9C20AF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07AB36-CC62-F029-4175-5FC71B6408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2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E0061-0A2F-B552-1AEB-39BBB2E03B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94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7B0E63-F268-344A-9698-5F11E137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68C6C-F645-41F0-811D-305DF0F1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D8E4A-30F4-0483-BC67-C27BEDF63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077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26A6A1-821B-3544-8E1B-66965F34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9EF53-6FA3-4CCB-95D9-B0993F5F9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D1325-D353-255B-4CFF-6DEF895893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2205D-B21D-4CFA-93AC-4F842B7D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08EE2-FE8D-0311-5B02-E788C3F701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26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9477499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5B7CF-7542-4F5F-B8C6-2AEFC3C1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B00F9-207E-909A-4094-6F3D102FF0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803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222BBD-A73B-7945-9948-C8E90AEC1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37CC2-F65E-5C36-F936-C829C3A9A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84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57D06-B73F-0342-ADB9-E801D7556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E4233-2B54-1E59-577B-28006FB40F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361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33176A-37CE-D941-ABF9-7343B4BA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354" y="2626476"/>
            <a:ext cx="6756330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0216D-BE30-4406-9ECE-AA8EE6C3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D32AF1-D704-F2B9-ECE1-5BEE58678D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644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DFCEC1-F84F-AB4F-BBDF-8FB2899C67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53" y="529931"/>
            <a:ext cx="5470771" cy="1401203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929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615F9-2DC2-4A07-9DBA-CDC68210E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A983C-BD36-FE2A-2E54-D854F159E0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05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A1F369-B4D9-1D4E-8129-28BA3151B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653" y="539279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676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AEB68-F742-4B3E-A13B-8711E3718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5D6B3-9FDF-65B6-F45A-9AA7B3011B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379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912D-E388-A14F-97D4-CA465492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319FE4-FBA9-4DEE-90B2-1C2EEF5E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99C8B-3D58-4FE3-BF3E-405E14826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B6E71-F6E9-0B2F-F450-FCAACC64D8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453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740525" y="1409700"/>
            <a:ext cx="5448300" cy="54483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4F931-EDA8-4D82-BE6C-7968983D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55510-4E75-8D6A-598F-10C62E396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30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dia Placeholder 7"/>
          <p:cNvSpPr>
            <a:spLocks noGrp="1"/>
          </p:cNvSpPr>
          <p:nvPr>
            <p:ph type="media" sz="quarter" idx="10"/>
          </p:nvPr>
        </p:nvSpPr>
        <p:spPr>
          <a:xfrm>
            <a:off x="2995399" y="1612706"/>
            <a:ext cx="6198027" cy="3182412"/>
          </a:xfrm>
        </p:spPr>
        <p:txBody>
          <a:bodyPr/>
          <a:lstStyle/>
          <a:p>
            <a:r>
              <a:rPr lang="en-US"/>
              <a:t>Click icon to add media</a:t>
            </a:r>
            <a:endParaRPr lang="fi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1C337-8AD2-9177-E47D-9BE30DB4FE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87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71381-893E-2149-BD87-35BAD7920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4681" y="2222786"/>
            <a:ext cx="2852771" cy="1699927"/>
          </a:xfrm>
        </p:spPr>
        <p:txBody>
          <a:bodyPr/>
          <a:lstStyle>
            <a:lvl1pPr algn="r">
              <a:defRPr sz="3000">
                <a:solidFill>
                  <a:srgbClr val="5A5A5A"/>
                </a:solidFill>
              </a:defRPr>
            </a:lvl1pPr>
          </a:lstStyle>
          <a:p>
            <a:pPr lvl="0"/>
            <a:r>
              <a:rPr lang="en-US" dirty="0"/>
              <a:t>THANKS/</a:t>
            </a:r>
            <a:br>
              <a:rPr lang="en-US" dirty="0"/>
            </a:br>
            <a:r>
              <a:rPr lang="en-US" dirty="0"/>
              <a:t>CREDITS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30B59-681C-244E-9E75-267CB2469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C4B1F0-B05C-4AC9-BCBB-EA1FD90A5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9DF37-1172-442C-A889-7718C52F2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40B165-DC6B-FB6D-76D9-771E6D3FF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839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12EC4-E081-5747-BC9C-6ED420CBB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2D5D5-8D69-4EE8-998A-AFCB860D5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3FB059-D72B-4AC3-97F3-30DAA0E2C2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79C817-1B1C-394E-5FF6-F103C5EFE2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70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836A4C-B8F3-4A06-B45C-3490E7A0C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286D65-F38B-A233-C0B0-C64328705E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474149-39EA-88DB-DF24-5ADA26B0B5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98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3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F88AF-B055-4B9A-95B0-E2F7806A5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7351F1-D098-C45B-D263-C365BB2DD3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83FEE2B-73DC-332B-6AF9-8A19F585F2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469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4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DDF97-2893-1442-AC4B-CA4A313DF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FD717-35FA-47B1-ACD5-5093B88F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72DE44-0142-F2BA-C70B-C587F6C0C7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84D304-546B-F209-9A77-0187997EC6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795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5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316388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2ABFC-E25C-EFCC-83C0-2FFA5346E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5C1C22-5D0A-233B-2F05-77994E292E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631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6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707F-5A56-7E4C-BB06-31D0E29E7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69925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113E-C905-BB2C-F527-203853853F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07B649-C232-136C-35EB-B09746BE75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12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7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1F5BD8-5755-4649-A5A9-D795BACA3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7632313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7632313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84CD1-D247-98F7-FCE2-F38F611E6A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ECEDCE-C099-5DD8-DDB0-00810E5E7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483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8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2E91DB-40C0-2A45-B643-F8FAF408C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886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40B9D1-8937-0DED-9E8D-4F1DD8F464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8200DA-9F5B-5A25-6FCA-3FF7DAAD3D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15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9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47B53E-896C-8747-9BB8-4FDEA4D75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156" y="1891456"/>
            <a:ext cx="5580769" cy="1306408"/>
          </a:xfrm>
        </p:spPr>
        <p:txBody>
          <a:bodyPr/>
          <a:lstStyle>
            <a:lvl1pPr>
              <a:defRPr>
                <a:solidFill>
                  <a:srgbClr val="FF5000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59D9-6DE1-4053-8C9B-5AE4BAFD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327F66-4372-20DC-E1BE-B960CA820A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0DDCDA4-B01E-5570-510C-FE70E431051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62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0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A93D4E-1CE0-7148-8EFC-D3906E47E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0A127-6F0F-49BB-9F1B-5C900142E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47DD88-B9AC-E25F-F97E-2A974AA62A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056A62-B053-0965-FC19-543AB094C4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082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5F1AB5-C4FC-764C-9CDD-A8C635A1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A44D8-D3F5-4744-8A4E-E1BD976D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E5224-1214-4F7A-A134-C9152647F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ED8BF-1CDF-E70F-74D0-8259FD8B8B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F6F4AF-5EEB-A3B3-53E9-DB96F63F33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622C8-44FF-B641-87C8-0B3497E28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A20AB-EF22-4AA1-A51E-0B2C734E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71AA0-10C0-C664-266B-BF7E33A6D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8CE864-45E5-945B-A8CB-11E142E084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986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96169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936A6-D3F8-4C94-9D0F-5A9C20AF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D7A55-392B-A76C-9FDF-82DE2C11C0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91D133-8FFC-7DC8-869A-4FB103E3AB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31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blank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897D45-B39E-5B3D-C1CF-904A31B2E8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D7ACE8-1633-8022-D253-78C799BF6B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237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7B0E63-F268-344A-9698-5F11E137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68C6C-F645-41F0-811D-305DF0F1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ADC9E2-DB17-B342-9FDD-DDC631983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BF35F1-10A8-160F-3260-BB8C83536B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281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26A6A1-821B-3544-8E1B-66965F34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9EF53-6FA3-4CCB-95D9-B0993F5F9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62EF4D-E06F-050B-473F-7553D8395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00EBFE-4B6E-1317-5F66-3345C70739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68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2205D-B21D-4CFA-93AC-4F842B7D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6774D-6845-6D10-A9A0-10299B021A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727230-6E10-1B9C-35FD-B1A4DABFF2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65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ext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9477499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5B7CF-7542-4F5F-B8C6-2AEFC3C1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11346B-8E88-D210-505F-723133C52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6FD4D8-435A-F69C-8416-3CF0AAC480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96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3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222BBD-A73B-7945-9948-C8E90AEC1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E3E35D-A225-192A-557D-6CE61DF4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8DBAE6-1D88-F542-5050-32DF2E1BB8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532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4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57D06-B73F-0342-ADB9-E801D7556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C5962E-D7CD-9E2F-187A-B65912DDD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3FED91-CE66-6D16-3726-6153E5342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171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5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33176A-37CE-D941-ABF9-7343B4BA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354" y="2626476"/>
            <a:ext cx="6756330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0216D-BE30-4406-9ECE-AA8EE6C3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8EB756-310D-B273-4E2A-7B7B9156DF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96452F-2A80-46DD-6347-5BEA7E5B43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578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DFCEC1-F84F-AB4F-BBDF-8FB2899C67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53" y="529931"/>
            <a:ext cx="5470771" cy="1401203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929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615F9-2DC2-4A07-9DBA-CDC68210E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C95BA6-76FC-9516-C325-0AE3E3B2EB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A2D4EC-C994-FDEE-718C-314BD44B81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227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A1F369-B4D9-1D4E-8129-28BA3151B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653" y="539279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676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AEB68-F742-4B3E-A13B-8711E3718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EB2B3-23C4-D22E-BDA7-DA1712AA98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F14056-212B-D2A7-1441-1484490C51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208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912D-E388-A14F-97D4-CA465492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319FE4-FBA9-4DEE-90B2-1C2EEF5E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99C8B-3D58-4FE3-BF3E-405E14826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10DBD3-F230-212B-2926-56B0BB5F5C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247853-2A5E-C84D-F074-D74BFE0029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511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740525" y="1409700"/>
            <a:ext cx="5448300" cy="54483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4F931-EDA8-4D82-BE6C-7968983D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B442D8-B018-2425-A610-447C6A15F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5C2B28-A906-E013-CCD2-65DB89091C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506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/media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dia Placeholder 7"/>
          <p:cNvSpPr>
            <a:spLocks noGrp="1"/>
          </p:cNvSpPr>
          <p:nvPr>
            <p:ph type="media" sz="quarter" idx="10"/>
          </p:nvPr>
        </p:nvSpPr>
        <p:spPr>
          <a:xfrm>
            <a:off x="2995399" y="1612706"/>
            <a:ext cx="6198027" cy="3182412"/>
          </a:xfrm>
        </p:spPr>
        <p:txBody>
          <a:bodyPr/>
          <a:lstStyle/>
          <a:p>
            <a:r>
              <a:rPr lang="en-US"/>
              <a:t>Click icon to add media</a:t>
            </a:r>
            <a:endParaRPr lang="fi-F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BE04B-FD03-B710-6F78-A304EF41AD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A3FB4E-113B-F798-938F-8CAF3FBCF7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576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71381-893E-2149-BD87-35BAD7920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4681" y="2222786"/>
            <a:ext cx="2852771" cy="1699927"/>
          </a:xfrm>
        </p:spPr>
        <p:txBody>
          <a:bodyPr/>
          <a:lstStyle>
            <a:lvl1pPr algn="r">
              <a:defRPr sz="3000">
                <a:solidFill>
                  <a:srgbClr val="5A5A5A"/>
                </a:solidFill>
              </a:defRPr>
            </a:lvl1pPr>
          </a:lstStyle>
          <a:p>
            <a:pPr lvl="0"/>
            <a:r>
              <a:rPr lang="en-US" dirty="0"/>
              <a:t>THANKS/</a:t>
            </a:r>
            <a:br>
              <a:rPr lang="en-US" dirty="0"/>
            </a:br>
            <a:r>
              <a:rPr lang="en-US" dirty="0"/>
              <a:t>CREDITS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30B59-681C-244E-9E75-267CB2469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C4B1F0-B05C-4AC9-BCBB-EA1FD90A5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9DF37-1172-442C-A889-7718C52F2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87575"/>
            <a:ext cx="7023100" cy="56803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DCE5E5-08DA-7E96-9ECF-CE982B3998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47C8F0-C7DF-1846-A5C5-2A484E4FDD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0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76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  <p:sldLayoutId id="2147483751" r:id="rId50"/>
    <p:sldLayoutId id="2147483752" r:id="rId51"/>
    <p:sldLayoutId id="2147483753" r:id="rId52"/>
    <p:sldLayoutId id="2147483754" r:id="rId53"/>
    <p:sldLayoutId id="2147483755" r:id="rId5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rgbClr val="FF500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sfca.edu/~galles/visualization/BST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jpeg"/><Relationship Id="rId4" Type="http://schemas.openxmlformats.org/officeDocument/2006/relationships/hyperlink" Target="https://visualgo.net/en/bst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D003-4F2B-294F-8F1A-9714C159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CH5</a:t>
            </a:r>
            <a:br>
              <a:rPr lang="en-US" dirty="0"/>
            </a:br>
            <a:r>
              <a:rPr lang="en-US" dirty="0"/>
              <a:t>Stack &amp; Queue revision + Intro to Trees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12622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B331-9D8C-FA2B-3A99-D3CCF122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7AF5-633B-A573-AFE7-FE676D51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924" y="103345"/>
            <a:ext cx="5470771" cy="1391855"/>
          </a:xfrm>
        </p:spPr>
        <p:txBody>
          <a:bodyPr/>
          <a:lstStyle/>
          <a:p>
            <a:r>
              <a:rPr lang="en-US" dirty="0"/>
              <a:t>Agenda</a:t>
            </a:r>
            <a:endParaRPr lang="en-FI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AF9EC7-0644-1E8D-A412-906137213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4374" y="2494566"/>
            <a:ext cx="5041017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Queue </a:t>
            </a:r>
            <a:r>
              <a:rPr lang="en-US" b="1" dirty="0"/>
              <a:t>Revision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Stack </a:t>
            </a:r>
            <a:r>
              <a:rPr lang="en-US" b="1" dirty="0"/>
              <a:t>Revision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Trees Intro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1E18ABF9-A3FA-3E4D-D2B0-21142F0AC874}"/>
              </a:ext>
            </a:extLst>
          </p:cNvPr>
          <p:cNvSpPr txBox="1"/>
          <p:nvPr/>
        </p:nvSpPr>
        <p:spPr>
          <a:xfrm>
            <a:off x="6466330" y="484199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Image: </a:t>
            </a:r>
            <a:r>
              <a:rPr lang="en-US" sz="800" i="1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Pixabay</a:t>
            </a:r>
            <a:endParaRPr lang="en-FI" sz="800"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CABE51A3-B016-7FFF-F089-D2C5C8E10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962151"/>
            <a:ext cx="5119723" cy="287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1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10AC9-3935-C54A-B3B0-0D82A3F4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2507C317-BA48-4319-69E8-A13ECB558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ADT = Abstract Data Structure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It is a concept that can be recreated in any coding language.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LIFO = Last-In/First-Out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Last element we put in, is the first one to be taken 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be implemented using a Linked List for example or in many other ways!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B1C51257-674B-92CF-90A6-FFAFB3E570B2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 Stack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F3F1143-5D43-1C21-E961-B072B2A5C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14,824 Stack Of Plates Stock Photos, High-Res Pictures, and ...">
            <a:extLst>
              <a:ext uri="{FF2B5EF4-FFF2-40B4-BE49-F238E27FC236}">
                <a16:creationId xmlns:a16="http://schemas.microsoft.com/office/drawing/2014/main" id="{54EA89B1-39DC-6523-C8C6-3A7973620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487118"/>
            <a:ext cx="3886200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iruutu 6">
            <a:extLst>
              <a:ext uri="{FF2B5EF4-FFF2-40B4-BE49-F238E27FC236}">
                <a16:creationId xmlns:a16="http://schemas.microsoft.com/office/drawing/2014/main" id="{EC9D5B18-66AA-243A-1A9C-EBC407CEEF5B}"/>
              </a:ext>
            </a:extLst>
          </p:cNvPr>
          <p:cNvSpPr txBox="1"/>
          <p:nvPr/>
        </p:nvSpPr>
        <p:spPr>
          <a:xfrm>
            <a:off x="652463" y="6316418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GettyImages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03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561F-A42E-A39D-8823-EFA623F21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4F2947DF-A90C-269D-3374-43DC43408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Stack operations in Python: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/>
              <a:t>Push: </a:t>
            </a:r>
            <a:r>
              <a:rPr lang="en-US" dirty="0"/>
              <a:t>Adds a new element on the stack.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/>
              <a:t>Pop: </a:t>
            </a:r>
            <a:r>
              <a:rPr lang="en-US" dirty="0"/>
              <a:t>Removes and returns the top element from the stack.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/>
              <a:t>Peek: </a:t>
            </a:r>
            <a:r>
              <a:rPr lang="en-US" dirty="0"/>
              <a:t>Returns the top (last) element on the stack.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 err="1"/>
              <a:t>isEmpty</a:t>
            </a:r>
            <a:r>
              <a:rPr lang="en-US" b="1" dirty="0"/>
              <a:t>: </a:t>
            </a:r>
            <a:r>
              <a:rPr lang="en-US" dirty="0"/>
              <a:t>Checks if the stack is empty.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/>
              <a:t>Size: </a:t>
            </a:r>
            <a:r>
              <a:rPr lang="en-US" dirty="0"/>
              <a:t>Finds the number of elements in the stack.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Used in </a:t>
            </a:r>
            <a:r>
              <a:rPr lang="en-US" dirty="0"/>
              <a:t>undo mechanisms, to revert to previous states, to create algorithms.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FB2C7FAB-2C17-0F42-C82D-52855AE43180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1.1. Stack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BA0FA3-AB65-0217-CDF6-2430D4CB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231E12DD-4E8A-B6E3-BF34-E55B52E0F727}"/>
              </a:ext>
            </a:extLst>
          </p:cNvPr>
          <p:cNvSpPr txBox="1"/>
          <p:nvPr/>
        </p:nvSpPr>
        <p:spPr>
          <a:xfrm>
            <a:off x="652463" y="6316418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GettyImages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06B9654C-FAC8-50B6-3654-E5E8B8FC3A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0" r="12542"/>
          <a:stretch>
            <a:fillRect/>
          </a:stretch>
        </p:blipFill>
        <p:spPr bwMode="auto">
          <a:xfrm>
            <a:off x="1" y="1363418"/>
            <a:ext cx="5138290" cy="3596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34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8813E-C140-2535-2D78-CF8D367CB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D9575C62-00AC-6668-E51B-F5C134E0E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ADT = Abstract Data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FIFO = First-In/First-Out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First element we put in, is the first one to be taken 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also be implemented using a Linked List for example or in many other ways!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7C58BCB5-7319-F119-61A8-53EB042F6517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 Queue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0FEC69A-AE43-241D-ED68-5A814321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Queue Vectors - Download Free High-Quality Vectors from Freepik | Freepik">
            <a:extLst>
              <a:ext uri="{FF2B5EF4-FFF2-40B4-BE49-F238E27FC236}">
                <a16:creationId xmlns:a16="http://schemas.microsoft.com/office/drawing/2014/main" id="{E9E773A0-A0FD-AEA9-998B-E6C713A14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49" y="595872"/>
            <a:ext cx="4614863" cy="447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iruutu 4">
            <a:extLst>
              <a:ext uri="{FF2B5EF4-FFF2-40B4-BE49-F238E27FC236}">
                <a16:creationId xmlns:a16="http://schemas.microsoft.com/office/drawing/2014/main" id="{CBC41EC2-F21C-C02D-D920-271FAA139111}"/>
              </a:ext>
            </a:extLst>
          </p:cNvPr>
          <p:cNvSpPr txBox="1"/>
          <p:nvPr/>
        </p:nvSpPr>
        <p:spPr>
          <a:xfrm>
            <a:off x="260349" y="506730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Freepik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66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797CC-272B-417B-9877-77821657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5F4EF8AC-B718-E917-6F93-B5118297E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 Operations: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/>
              <a:t>Enqueue: </a:t>
            </a:r>
            <a:r>
              <a:rPr lang="en-US" dirty="0"/>
              <a:t>Adds a new element to the queue.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/>
              <a:t>Dequeue: </a:t>
            </a:r>
            <a:r>
              <a:rPr lang="en-US" dirty="0"/>
              <a:t>Removes and returns the first (front) element from the queue.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/>
              <a:t>Peek: </a:t>
            </a:r>
            <a:r>
              <a:rPr lang="en-US" dirty="0"/>
              <a:t>Returns the first element in the queue.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 err="1"/>
              <a:t>isEmpty</a:t>
            </a:r>
            <a:r>
              <a:rPr lang="en-US" b="1" dirty="0"/>
              <a:t>: </a:t>
            </a:r>
            <a:r>
              <a:rPr lang="en-US" dirty="0"/>
              <a:t>Checks if the queue is empty.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/>
              <a:t>Size: </a:t>
            </a:r>
            <a:r>
              <a:rPr lang="en-US" dirty="0"/>
              <a:t>Finds the number of elements in the queue.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Used in job scheduling for an office printer, order processing for e-tickets, or to create algorithms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865BDD47-FDA1-EF07-B61F-9F759104A696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2.1. Queue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9440F07-0981-9936-5F37-51E1BDAE2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0C5A89C9-2D66-D5EE-1C40-3C938CF05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3627"/>
            <a:ext cx="5142271" cy="257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48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DABB-5CFE-52A5-19A2-BCA19B50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D82470E4-ECC0-1AF0-279C-C461CB305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= non-linear abstract data type (ADT) with a </a:t>
            </a:r>
            <a:r>
              <a:rPr lang="en-US" b="1" dirty="0"/>
              <a:t>hierarchy-based</a:t>
            </a:r>
            <a:r>
              <a:rPr lang="en-US" dirty="0"/>
              <a:t> 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Consists of Nodes with Links!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dirty="0" err="1"/>
              <a:t>Used</a:t>
            </a:r>
            <a:r>
              <a:rPr lang="fi-FI" dirty="0"/>
              <a:t> to </a:t>
            </a:r>
            <a:r>
              <a:rPr lang="fi-FI" dirty="0" err="1"/>
              <a:t>organize</a:t>
            </a:r>
            <a:r>
              <a:rPr lang="fi-FI" dirty="0"/>
              <a:t> data, </a:t>
            </a:r>
            <a:r>
              <a:rPr lang="fi-FI" dirty="0" err="1"/>
              <a:t>enable</a:t>
            </a:r>
            <a:r>
              <a:rPr lang="fi-FI" dirty="0"/>
              <a:t> </a:t>
            </a:r>
            <a:r>
              <a:rPr lang="fi-FI" dirty="0" err="1"/>
              <a:t>fast</a:t>
            </a:r>
            <a:r>
              <a:rPr lang="fi-FI" dirty="0"/>
              <a:t> </a:t>
            </a:r>
            <a:r>
              <a:rPr lang="fi-FI" dirty="0" err="1"/>
              <a:t>searching</a:t>
            </a:r>
            <a:r>
              <a:rPr lang="fi-FI" dirty="0"/>
              <a:t>, and </a:t>
            </a:r>
            <a:r>
              <a:rPr lang="fi-FI" dirty="0" err="1"/>
              <a:t>manage</a:t>
            </a:r>
            <a:r>
              <a:rPr lang="fi-FI" dirty="0"/>
              <a:t> </a:t>
            </a:r>
            <a:r>
              <a:rPr lang="fi-FI" dirty="0" err="1"/>
              <a:t>nested</a:t>
            </a:r>
            <a:r>
              <a:rPr lang="fi-FI" dirty="0"/>
              <a:t> </a:t>
            </a:r>
            <a:r>
              <a:rPr lang="fi-FI" dirty="0" err="1"/>
              <a:t>relationships</a:t>
            </a:r>
            <a:r>
              <a:rPr lang="fi-FI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dirty="0" err="1"/>
              <a:t>Common</a:t>
            </a:r>
            <a:r>
              <a:rPr lang="fi-FI" dirty="0"/>
              <a:t> </a:t>
            </a:r>
            <a:r>
              <a:rPr lang="fi-FI" dirty="0" err="1"/>
              <a:t>applications</a:t>
            </a:r>
            <a:r>
              <a:rPr lang="fi-FI" dirty="0"/>
              <a:t> </a:t>
            </a:r>
            <a:r>
              <a:rPr lang="fi-FI" dirty="0" err="1"/>
              <a:t>include</a:t>
            </a:r>
            <a:r>
              <a:rPr lang="fi-FI" dirty="0"/>
              <a:t> file </a:t>
            </a:r>
            <a:r>
              <a:rPr lang="fi-FI" dirty="0" err="1"/>
              <a:t>systems</a:t>
            </a:r>
            <a:r>
              <a:rPr lang="fi-FI" dirty="0"/>
              <a:t>, </a:t>
            </a:r>
            <a:r>
              <a:rPr lang="fi-FI" dirty="0" err="1"/>
              <a:t>decision-making</a:t>
            </a:r>
            <a:r>
              <a:rPr lang="fi-FI" dirty="0"/>
              <a:t> </a:t>
            </a:r>
            <a:r>
              <a:rPr lang="fi-FI" dirty="0" err="1"/>
              <a:t>algorithms</a:t>
            </a:r>
            <a:r>
              <a:rPr lang="fi-FI" dirty="0"/>
              <a:t>, and </a:t>
            </a:r>
            <a:r>
              <a:rPr lang="fi-FI" dirty="0" err="1"/>
              <a:t>compilers</a:t>
            </a:r>
            <a:r>
              <a:rPr lang="fi-FI" dirty="0"/>
              <a:t>.</a:t>
            </a:r>
            <a:endParaRPr lang="en-US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96C76C7B-C629-D395-48E8-914B3B98BD11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F069EF-8E5B-4601-52B0-3F64568C2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D74CB6BB-900B-01DE-732C-68BBFD656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1534"/>
            <a:ext cx="5182978" cy="303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418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4903-6A24-2B87-A5E0-C224525C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23562664-86AA-F5D2-3D94-FCC9F69BD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r>
              <a:rPr lang="en-US" sz="1400" b="1" dirty="0"/>
              <a:t>Path</a:t>
            </a:r>
            <a:r>
              <a:rPr lang="en-US" sz="1400" dirty="0"/>
              <a:t> − Path refers to the sequence of nodes along the edges of a tree.</a:t>
            </a:r>
          </a:p>
          <a:p>
            <a:r>
              <a:rPr lang="en-US" sz="1400" b="1" dirty="0"/>
              <a:t>Root</a:t>
            </a:r>
            <a:r>
              <a:rPr lang="en-US" sz="1400" dirty="0"/>
              <a:t> − The node at the top of the tree is called root. There is only one root per tree and one path from the root node to any node.</a:t>
            </a:r>
          </a:p>
          <a:p>
            <a:r>
              <a:rPr lang="en-US" sz="1400" b="1" dirty="0"/>
              <a:t>Parent</a:t>
            </a:r>
            <a:r>
              <a:rPr lang="en-US" sz="1400" dirty="0"/>
              <a:t> − Any node except the root node has one edge upward to a node called parent.</a:t>
            </a:r>
          </a:p>
          <a:p>
            <a:r>
              <a:rPr lang="en-US" sz="1400" b="1" dirty="0"/>
              <a:t>Child</a:t>
            </a:r>
            <a:r>
              <a:rPr lang="en-US" sz="1400" dirty="0"/>
              <a:t> − The node below a given node connected by its edge downward is called its child node.</a:t>
            </a:r>
          </a:p>
          <a:p>
            <a:r>
              <a:rPr lang="en-US" sz="1400" b="1" dirty="0"/>
              <a:t>Leaf</a:t>
            </a:r>
            <a:r>
              <a:rPr lang="en-US" sz="1400" dirty="0"/>
              <a:t> − The node which does not have any child node is called the leaf node.</a:t>
            </a:r>
          </a:p>
          <a:p>
            <a:r>
              <a:rPr lang="en-US" sz="1400" b="1" dirty="0"/>
              <a:t>Subtree</a:t>
            </a:r>
            <a:r>
              <a:rPr lang="en-US" sz="1400" dirty="0"/>
              <a:t> − Subtree represents the descendants of a node.</a:t>
            </a:r>
          </a:p>
          <a:p>
            <a:r>
              <a:rPr lang="en-US" sz="1400" b="1" dirty="0"/>
              <a:t>Visiting</a:t>
            </a:r>
            <a:r>
              <a:rPr lang="en-US" sz="1400" dirty="0"/>
              <a:t> − Visiting refers to checking the value of a node when control is on the node.</a:t>
            </a:r>
          </a:p>
          <a:p>
            <a:r>
              <a:rPr lang="en-US" sz="1400" b="1" dirty="0"/>
              <a:t>Traversing</a:t>
            </a:r>
            <a:r>
              <a:rPr lang="en-US" sz="1400" dirty="0"/>
              <a:t> − Traversing means passing through nodes in a specific order.</a:t>
            </a:r>
          </a:p>
          <a:p>
            <a:r>
              <a:rPr lang="en-US" sz="1400" b="1" dirty="0"/>
              <a:t>Levels</a:t>
            </a:r>
            <a:r>
              <a:rPr lang="en-US" sz="1400" dirty="0"/>
              <a:t> − Level of a node represents the generation of a node. If the root node is at level 0, then its next child node is at level 1, its grandchild is at level 2, and so on.</a:t>
            </a:r>
          </a:p>
          <a:p>
            <a:r>
              <a:rPr lang="en-US" sz="1400" b="1" dirty="0"/>
              <a:t>Keys</a:t>
            </a:r>
            <a:r>
              <a:rPr lang="en-US" sz="1400" dirty="0"/>
              <a:t> − Key represents a value of a node based on which a search operation is to be carried out for a 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9403813A-4F0F-E484-52EE-9A590E2C5F63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48F46F-35B9-BA75-F873-E56A530A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9C5547D3-FA64-4DC4-458A-C913B34E4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1534"/>
            <a:ext cx="5182978" cy="303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949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CFEC3-2E4F-E3EF-FA10-4B1EA61E4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0693D06F-34CD-FED7-7E80-8C4B7DAF1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991" y="1363418"/>
            <a:ext cx="4009917" cy="4953000"/>
          </a:xfrm>
        </p:spPr>
        <p:txBody>
          <a:bodyPr/>
          <a:lstStyle/>
          <a:p>
            <a:r>
              <a:rPr lang="en-US" b="1" dirty="0"/>
              <a:t>Path</a:t>
            </a:r>
            <a:r>
              <a:rPr lang="en-US" dirty="0"/>
              <a:t> − Path refers to the sequence of nodes along the edges of a tree.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C8A2193E-FE25-3D2A-749D-1F810A212796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C9BFCA-4247-21DA-5E9C-99F5B82C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D7BD0547-08F5-8A84-DD81-00D0DDC81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73" y="1157705"/>
            <a:ext cx="6983896" cy="408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D2B0ED-1F7D-E42B-02F1-54AC20B8E96C}"/>
              </a:ext>
            </a:extLst>
          </p:cNvPr>
          <p:cNvCxnSpPr/>
          <p:nvPr/>
        </p:nvCxnSpPr>
        <p:spPr>
          <a:xfrm flipH="1">
            <a:off x="3578087" y="2120348"/>
            <a:ext cx="702365" cy="39093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31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23E75-C959-B51C-A157-4751FF8D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4C14BEEB-45DB-F594-3579-F7163D229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991" y="1363418"/>
            <a:ext cx="4009917" cy="4953000"/>
          </a:xfrm>
        </p:spPr>
        <p:txBody>
          <a:bodyPr/>
          <a:lstStyle/>
          <a:p>
            <a:r>
              <a:rPr lang="en-US" b="1" dirty="0"/>
              <a:t>Root</a:t>
            </a:r>
            <a:r>
              <a:rPr lang="en-US" dirty="0"/>
              <a:t> − The node at the top of the tree is called root. There is only one root per tree and one path from the root node to any node.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8195F21B-E07A-EDC1-FFF1-EFC79E340F6B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1298AA6-2D3E-9AB8-9771-6DA3C3D31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CE7822F9-2AF0-63F6-DCFD-D47F97502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73" y="1157705"/>
            <a:ext cx="6983896" cy="408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8940EA6-4034-D152-55ED-9A5970B283C6}"/>
              </a:ext>
            </a:extLst>
          </p:cNvPr>
          <p:cNvSpPr/>
          <p:nvPr/>
        </p:nvSpPr>
        <p:spPr>
          <a:xfrm>
            <a:off x="4287078" y="1822174"/>
            <a:ext cx="490331" cy="4704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79629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05A3-D5B4-30DB-5A43-EA73379B8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6384D071-0E37-66E1-2186-AC3BB9931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991" y="1363418"/>
            <a:ext cx="4009917" cy="4953000"/>
          </a:xfrm>
        </p:spPr>
        <p:txBody>
          <a:bodyPr/>
          <a:lstStyle/>
          <a:p>
            <a:r>
              <a:rPr lang="en-US" b="1" dirty="0"/>
              <a:t>Parent</a:t>
            </a:r>
            <a:r>
              <a:rPr lang="en-US" dirty="0"/>
              <a:t> − Any node except the root node has one edge upward to a node called parent.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D8E21B78-FAF9-AD8A-1138-26CE6AE278A9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A92DB0F-43B9-4508-4983-D3AF837A7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757B12C4-12CC-BC38-567C-815E74A9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73" y="1157705"/>
            <a:ext cx="6983896" cy="408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FC3D26-3064-73EB-0B18-60968070CF8F}"/>
              </a:ext>
            </a:extLst>
          </p:cNvPr>
          <p:cNvCxnSpPr/>
          <p:nvPr/>
        </p:nvCxnSpPr>
        <p:spPr>
          <a:xfrm flipV="1">
            <a:off x="2305878" y="3511826"/>
            <a:ext cx="245165" cy="430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A817E09-CD2C-4B26-B363-FAFA78A8999B}"/>
              </a:ext>
            </a:extLst>
          </p:cNvPr>
          <p:cNvSpPr/>
          <p:nvPr/>
        </p:nvSpPr>
        <p:spPr>
          <a:xfrm>
            <a:off x="2428460" y="3087757"/>
            <a:ext cx="443948" cy="4638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7023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8918-0B32-C8B0-04E8-D0463813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8DD91352-654F-2207-AF07-D2DEBD25E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991" y="1363418"/>
            <a:ext cx="4009917" cy="4953000"/>
          </a:xfrm>
        </p:spPr>
        <p:txBody>
          <a:bodyPr/>
          <a:lstStyle/>
          <a:p>
            <a:r>
              <a:rPr lang="en-US" b="1" dirty="0"/>
              <a:t>Child</a:t>
            </a:r>
            <a:r>
              <a:rPr lang="en-US" dirty="0"/>
              <a:t> − The node below a given node connected by its edge downward is called its child node.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12AFDE21-AA54-52EC-6374-32B94C2E71F4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0B0C1D9-DB84-6EB6-6631-34555D082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6052CE9F-9BE4-9147-DE0E-2C38E9C6A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73" y="1157705"/>
            <a:ext cx="6983896" cy="408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0A7617-A0BE-9E8B-9475-D214680BB02C}"/>
              </a:ext>
            </a:extLst>
          </p:cNvPr>
          <p:cNvCxnSpPr/>
          <p:nvPr/>
        </p:nvCxnSpPr>
        <p:spPr>
          <a:xfrm flipH="1">
            <a:off x="2325757" y="3525078"/>
            <a:ext cx="205408" cy="390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65E4C70-A3B7-CCE6-C3E6-21F7673A8762}"/>
              </a:ext>
            </a:extLst>
          </p:cNvPr>
          <p:cNvSpPr/>
          <p:nvPr/>
        </p:nvSpPr>
        <p:spPr>
          <a:xfrm>
            <a:off x="1964635" y="3893850"/>
            <a:ext cx="463826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51136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2C370-65B1-DF9F-AF9E-FDC97F442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25901B2E-00C7-8A0A-70F7-9439B681C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991" y="1363418"/>
            <a:ext cx="4009917" cy="4953000"/>
          </a:xfrm>
        </p:spPr>
        <p:txBody>
          <a:bodyPr/>
          <a:lstStyle/>
          <a:p>
            <a:r>
              <a:rPr lang="en-US" b="1" dirty="0"/>
              <a:t>Leaf</a:t>
            </a:r>
            <a:r>
              <a:rPr lang="en-US" dirty="0"/>
              <a:t> − The node which does not have any child node is called the leaf node.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A0786E75-D518-1B47-DAD2-8E4BB5F2B62C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5993B37-5F9F-550B-EE36-506E342BF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F1AE15DF-1ED9-560C-7FF8-F29BBDA30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73" y="1157705"/>
            <a:ext cx="6983896" cy="408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EB0731E-120B-5610-42A7-005D5DC3C9ED}"/>
              </a:ext>
            </a:extLst>
          </p:cNvPr>
          <p:cNvSpPr/>
          <p:nvPr/>
        </p:nvSpPr>
        <p:spPr>
          <a:xfrm>
            <a:off x="1964635" y="3893850"/>
            <a:ext cx="463826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7E96B4-846A-8CD1-B7CF-F96BE7F0DC20}"/>
              </a:ext>
            </a:extLst>
          </p:cNvPr>
          <p:cNvSpPr/>
          <p:nvPr/>
        </p:nvSpPr>
        <p:spPr>
          <a:xfrm>
            <a:off x="2865783" y="3893850"/>
            <a:ext cx="463826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8CDA08-E2F7-9155-1F81-412D38A79C62}"/>
              </a:ext>
            </a:extLst>
          </p:cNvPr>
          <p:cNvSpPr/>
          <p:nvPr/>
        </p:nvSpPr>
        <p:spPr>
          <a:xfrm>
            <a:off x="3482009" y="3893850"/>
            <a:ext cx="463826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179498-8DAD-D61D-B3A4-DC214BB6AC75}"/>
              </a:ext>
            </a:extLst>
          </p:cNvPr>
          <p:cNvSpPr/>
          <p:nvPr/>
        </p:nvSpPr>
        <p:spPr>
          <a:xfrm>
            <a:off x="4754218" y="3085467"/>
            <a:ext cx="463826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114A0CE-9E8F-FA1C-48B6-7A4470436A74}"/>
              </a:ext>
            </a:extLst>
          </p:cNvPr>
          <p:cNvSpPr/>
          <p:nvPr/>
        </p:nvSpPr>
        <p:spPr>
          <a:xfrm>
            <a:off x="6251713" y="3085467"/>
            <a:ext cx="463826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38176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A9472-53FC-E833-B8F6-91AF2EAFB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1A5FADA4-3E6B-DCDC-8E41-E020BDE79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991" y="1363418"/>
            <a:ext cx="4009917" cy="4953000"/>
          </a:xfrm>
        </p:spPr>
        <p:txBody>
          <a:bodyPr/>
          <a:lstStyle/>
          <a:p>
            <a:r>
              <a:rPr lang="en-US" b="1" dirty="0"/>
              <a:t>Subtree</a:t>
            </a:r>
            <a:r>
              <a:rPr lang="en-US" dirty="0"/>
              <a:t> − Subtree represents the descendants of a node.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87DB37BA-E375-BBB9-882E-72C9588762F2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A5484F-6F6A-E4B1-0BDD-ED827DC34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ED2C4CEC-64EC-B6D8-4024-087027471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73" y="1157705"/>
            <a:ext cx="6983896" cy="408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96D2F4-BC73-F34D-E9A9-7B7AC9563AB3}"/>
              </a:ext>
            </a:extLst>
          </p:cNvPr>
          <p:cNvCxnSpPr/>
          <p:nvPr/>
        </p:nvCxnSpPr>
        <p:spPr>
          <a:xfrm flipH="1">
            <a:off x="1782417" y="2816087"/>
            <a:ext cx="861392" cy="15836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D56D2B-215C-E7A7-6213-49D46BDA1CFF}"/>
              </a:ext>
            </a:extLst>
          </p:cNvPr>
          <p:cNvCxnSpPr/>
          <p:nvPr/>
        </p:nvCxnSpPr>
        <p:spPr>
          <a:xfrm>
            <a:off x="2643809" y="2816087"/>
            <a:ext cx="901148" cy="15836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A26FAF-3001-7B0F-41AD-93C504AA6329}"/>
              </a:ext>
            </a:extLst>
          </p:cNvPr>
          <p:cNvCxnSpPr/>
          <p:nvPr/>
        </p:nvCxnSpPr>
        <p:spPr>
          <a:xfrm>
            <a:off x="1782417" y="4452730"/>
            <a:ext cx="17625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461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3352-43DD-EE46-0CAB-EEC5CE6E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249C405C-2004-A44C-37FD-BDDE864E2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991" y="1363418"/>
            <a:ext cx="4009917" cy="4953000"/>
          </a:xfrm>
        </p:spPr>
        <p:txBody>
          <a:bodyPr/>
          <a:lstStyle/>
          <a:p>
            <a:r>
              <a:rPr lang="en-US" sz="2000" b="1" dirty="0"/>
              <a:t>Visiting</a:t>
            </a:r>
            <a:r>
              <a:rPr lang="en-US" sz="2000" dirty="0"/>
              <a:t> − Visiting refers to checking the value of a node when control is on the node.</a:t>
            </a:r>
          </a:p>
          <a:p>
            <a:r>
              <a:rPr lang="en-US" sz="2000" b="1" dirty="0"/>
              <a:t>Levels</a:t>
            </a:r>
            <a:r>
              <a:rPr lang="en-US" sz="2000" dirty="0"/>
              <a:t> − Level of a node represents the generation of a node. If the root node is at level 0, then its next child node is at level 1, its grandchild is at level 2, and so on.</a:t>
            </a:r>
          </a:p>
          <a:p>
            <a:r>
              <a:rPr lang="en-US" sz="2000" b="1" dirty="0"/>
              <a:t>Keys</a:t>
            </a:r>
            <a:r>
              <a:rPr lang="en-US" sz="2000" dirty="0"/>
              <a:t> − Key represents a value of a node based on which a search operation is to be carried out for a node.</a:t>
            </a:r>
          </a:p>
          <a:p>
            <a:endParaRPr lang="en-US" sz="2000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24CEDE13-CAA8-AA09-6161-CADB6ADA57C5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642EAC2-5764-3853-AC34-51D9C57D0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AA2BC1B8-0904-96E7-B9C7-EEC94BF8B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73" y="1157705"/>
            <a:ext cx="6983896" cy="408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502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C758B-DBC6-4677-FE86-E059426E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C66E472B-D5DD-6A1B-22D3-0C6D24D45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r>
              <a:rPr lang="en-US" b="1" dirty="0"/>
              <a:t>Lastly, let’s look at an Example of a Binary Search Tree! </a:t>
            </a:r>
            <a:r>
              <a:rPr lang="en-US" b="1" dirty="0">
                <a:sym typeface="Wingdings" panose="05000000000000000000" pitchFamily="2" charset="2"/>
              </a:rPr>
              <a:t></a:t>
            </a:r>
          </a:p>
          <a:p>
            <a:endParaRPr lang="en-US" b="1" dirty="0">
              <a:sym typeface="Wingdings" panose="05000000000000000000" pitchFamily="2" charset="2"/>
            </a:endParaRPr>
          </a:p>
          <a:p>
            <a:r>
              <a:rPr lang="en-US" dirty="0">
                <a:hlinkClick r:id="rId3"/>
              </a:rPr>
              <a:t>https://www.cs.usfca.edu/~galles/visualization/BST.html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https://visualgo.net/en/bst</a:t>
            </a:r>
            <a:r>
              <a:rPr lang="en-US" dirty="0"/>
              <a:t> 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46D3A955-CFF2-C0A2-E6B4-E781951E84C2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Trees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16657EF-532A-14DF-612D-3B1C8C75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Tree Data Structure">
            <a:extLst>
              <a:ext uri="{FF2B5EF4-FFF2-40B4-BE49-F238E27FC236}">
                <a16:creationId xmlns:a16="http://schemas.microsoft.com/office/drawing/2014/main" id="{6D425598-005C-5D2E-99CC-51F263AE4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1534"/>
            <a:ext cx="5182978" cy="303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848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7BE1-3F73-F1E2-7B1F-5B8F6A51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C739-F032-021A-E0F0-DB957E5E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you next time!</a:t>
            </a:r>
            <a:endParaRPr lang="en-FI" dirty="0"/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938C3F7F-9A4F-B791-323C-AEEFCAB7F921}"/>
              </a:ext>
            </a:extLst>
          </p:cNvPr>
          <p:cNvSpPr txBox="1"/>
          <p:nvPr/>
        </p:nvSpPr>
        <p:spPr>
          <a:xfrm>
            <a:off x="8723249" y="5544836"/>
            <a:ext cx="346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tino.kankkunen@metropolia.fi</a:t>
            </a:r>
            <a:endParaRPr lang="en-FI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6584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a_webmaster">
  <a:themeElements>
    <a:clrScheme name="Metropolia_Webmaster">
      <a:dk1>
        <a:srgbClr val="FFFFFF"/>
      </a:dk1>
      <a:lt1>
        <a:srgbClr val="FFFFFF"/>
      </a:lt1>
      <a:dk2>
        <a:srgbClr val="53565A"/>
      </a:dk2>
      <a:lt2>
        <a:srgbClr val="53565A"/>
      </a:lt2>
      <a:accent1>
        <a:srgbClr val="FF5000"/>
      </a:accent1>
      <a:accent2>
        <a:srgbClr val="C2D500"/>
      </a:accent2>
      <a:accent3>
        <a:srgbClr val="00A0E1"/>
      </a:accent3>
      <a:accent4>
        <a:srgbClr val="E6007D"/>
      </a:accent4>
      <a:accent5>
        <a:srgbClr val="FFF000"/>
      </a:accent5>
      <a:accent6>
        <a:srgbClr val="FFFFFF"/>
      </a:accent6>
      <a:hlink>
        <a:srgbClr val="FF5000"/>
      </a:hlink>
      <a:folHlink>
        <a:srgbClr val="BC3A00"/>
      </a:folHlink>
    </a:clrScheme>
    <a:fontScheme name="Metropolia_web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0" id="{6C10D4A0-BE87-C045-BD2D-C32C846522EC}" vid="{968EBCE1-44A0-8648-ACBB-F37263CC06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Metropolia_webmaster</Template>
  <TotalTime>5611</TotalTime>
  <Words>834</Words>
  <Application>Microsoft Office PowerPoint</Application>
  <PresentationFormat>Custom</PresentationFormat>
  <Paragraphs>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Metropolia_webmaster</vt:lpstr>
      <vt:lpstr>CH5 Stack &amp; Queue revision + Intro to Trees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See you next time!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Sakari Malmberg</dc:creator>
  <cp:keywords/>
  <dc:description/>
  <cp:lastModifiedBy>Tino Kankkunen</cp:lastModifiedBy>
  <cp:revision>1782</cp:revision>
  <dcterms:created xsi:type="dcterms:W3CDTF">2024-05-03T06:20:06Z</dcterms:created>
  <dcterms:modified xsi:type="dcterms:W3CDTF">2026-01-27T13:35:10Z</dcterms:modified>
  <cp:category/>
</cp:coreProperties>
</file>