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8"/>
  </p:notesMasterIdLst>
  <p:sldIdLst>
    <p:sldId id="256" r:id="rId2"/>
    <p:sldId id="376" r:id="rId3"/>
    <p:sldId id="390" r:id="rId4"/>
    <p:sldId id="391" r:id="rId5"/>
    <p:sldId id="400" r:id="rId6"/>
    <p:sldId id="395" r:id="rId7"/>
    <p:sldId id="401" r:id="rId8"/>
    <p:sldId id="402" r:id="rId9"/>
    <p:sldId id="403" r:id="rId10"/>
    <p:sldId id="404" r:id="rId11"/>
    <p:sldId id="407" r:id="rId12"/>
    <p:sldId id="406" r:id="rId13"/>
    <p:sldId id="408" r:id="rId14"/>
    <p:sldId id="409" r:id="rId15"/>
    <p:sldId id="410" r:id="rId16"/>
    <p:sldId id="338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FF5000"/>
    <a:srgbClr val="53565A"/>
    <a:srgbClr val="5A5A5A"/>
    <a:srgbClr val="E95D0F"/>
    <a:srgbClr val="00A0E1"/>
    <a:srgbClr val="FFF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857" autoAdjust="0"/>
  </p:normalViewPr>
  <p:slideViewPr>
    <p:cSldViewPr snapToGrid="0" snapToObjects="1">
      <p:cViewPr varScale="1">
        <p:scale>
          <a:sx n="78" d="100"/>
          <a:sy n="78" d="100"/>
        </p:scale>
        <p:origin x="1325" y="8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0C426-ABB5-484D-B716-1CF93F0C2624}" type="datetimeFigureOut">
              <a:rPr lang="en-FI" smtClean="0"/>
              <a:t>01/15/2026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027FC-488F-154D-812F-E7571538DDB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966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72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2EAB-71B0-6856-2F2E-85DBFE3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0E4F5-7DB1-BFC1-5DB6-3666E5E91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82BD-D8F7-769B-CA15-420056CD4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76466-17A0-B5AD-3D87-5ACF8D5A8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711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1881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7016-5718-DF60-58B3-4B2B4445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D69B8-CB3C-F227-2210-9BC47855B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06A48-FF17-DF71-BD5F-2270AB39A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57B7B-6930-CEC3-8C61-746BED7B7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19925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FFBB-7BF6-7F51-5997-56D7F7E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9098-1A13-170D-B2AC-53CEA932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0E1B1-D724-437E-008D-A769339B4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2BF4-D807-6527-C52D-8170F8EE6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16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13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CC5D4E-371B-D868-6ACE-FCD7CA4B68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9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A9CAF-808D-B45D-DB7F-37FF800F5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DCA138-7B9C-0DFD-09BC-4BF5D70AAE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7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18EF6-494E-74ED-7BC9-6C7CA1BA1D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9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468F9-53F1-07A1-B3D6-423D64292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9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6CB06-4BA3-A6DD-631E-FE12AE472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71502-0770-BBAC-4D92-728A6CC8E4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6A4E4-9D17-CC93-B793-511DB5A90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B91147-7A96-F9F1-1AF0-4AC6682D1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2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581364-5D15-F8E5-E6C3-5CFF375C4E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8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60225-6889-DC7B-7F46-C280A0FA5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39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A742F9-5931-C31A-CA8E-8FF1C8021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2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7AB36-CC62-F029-4175-5FC71B6408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2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E0061-0A2F-B552-1AEB-39BBB2E03B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94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D8E4A-30F4-0483-BC67-C27BEDF63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77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D1325-D353-255B-4CFF-6DEF895893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08EE2-FE8D-0311-5B02-E788C3F70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26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B00F9-207E-909A-4094-6F3D102FF0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0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37CC2-F65E-5C36-F936-C829C3A9A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84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E4233-2B54-1E59-577B-28006FB40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36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32AF1-D704-F2B9-ECE1-5BEE58678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64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983C-BD36-FE2A-2E54-D854F159E0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05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5D6B3-9FDF-65B6-F45A-9AA7B3011B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37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B6E71-F6E9-0B2F-F450-FCAACC64D8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453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55510-4E75-8D6A-598F-10C62E396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0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1C337-8AD2-9177-E47D-9BE30DB4F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87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0B165-DC6B-FB6D-76D9-771E6D3FF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3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3FB059-D72B-4AC3-97F3-30DAA0E2C2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79C817-1B1C-394E-5FF6-F103C5EFE2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70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286D65-F38B-A233-C0B0-C64328705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474149-39EA-88DB-DF24-5ADA26B0B5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8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7351F1-D098-C45B-D263-C365BB2DD3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3FEE2B-73DC-332B-6AF9-8A19F585F2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69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72DE44-0142-F2BA-C70B-C587F6C0C7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84D304-546B-F209-9A77-0187997EC6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79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2ABFC-E25C-EFCC-83C0-2FFA5346E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5C1C22-5D0A-233B-2F05-77994E292E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631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113E-C905-BB2C-F527-203853853F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7B649-C232-136C-35EB-B09746BE7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12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84CD1-D247-98F7-FCE2-F38F611E6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ECEDCE-C099-5DD8-DDB0-00810E5E7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48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0B9D1-8937-0DED-9E8D-4F1DD8F464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8200DA-9F5B-5A25-6FCA-3FF7DAAD3D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15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327F66-4372-20DC-E1BE-B960CA820A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DDCDA4-B01E-5570-510C-FE70E43105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62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47DD88-B9AC-E25F-F97E-2A974AA62A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056A62-B053-0965-FC19-543AB094C4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82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ED8BF-1CDF-E70F-74D0-8259FD8B8B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F6F4AF-5EEB-A3B3-53E9-DB96F63F33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71AA0-10C0-C664-266B-BF7E33A6D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CE864-45E5-945B-A8CB-11E142E084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986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D7A55-392B-A76C-9FDF-82DE2C11C0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91D133-8FFC-7DC8-869A-4FB103E3A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31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897D45-B39E-5B3D-C1CF-904A31B2E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D7ACE8-1633-8022-D253-78C799BF6B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237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DC9E2-DB17-B342-9FDD-DDC63198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BF35F1-10A8-160F-3260-BB8C83536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28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62EF4D-E06F-050B-473F-7553D8395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00EBFE-4B6E-1317-5F66-3345C7073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6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6774D-6845-6D10-A9A0-10299B021A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727230-6E10-1B9C-35FD-B1A4DABFF2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65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11346B-8E88-D210-505F-723133C52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6FD4D8-435A-F69C-8416-3CF0AAC480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6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3E35D-A225-192A-557D-6CE61DF4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8DBAE6-1D88-F542-5050-32DF2E1BB8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32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5962E-D7CD-9E2F-187A-B65912DDD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3FED91-CE66-6D16-3726-6153E5342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171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8EB756-310D-B273-4E2A-7B7B9156DF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96452F-2A80-46DD-6347-5BEA7E5B43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578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C95BA6-76FC-9516-C325-0AE3E3B2E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A2D4EC-C994-FDEE-718C-314BD44B81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227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EB2B3-23C4-D22E-BDA7-DA1712AA98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F14056-212B-D2A7-1441-1484490C51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208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0DBD3-F230-212B-2926-56B0BB5F5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247853-2A5E-C84D-F074-D74BFE0029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511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B442D8-B018-2425-A610-447C6A15F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5C2B28-A906-E013-CCD2-65DB89091C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06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BE04B-FD03-B710-6F78-A304EF41AD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A3FB4E-113B-F798-938F-8CAF3FBCF7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76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87575"/>
            <a:ext cx="7023100" cy="56803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DCE5E5-08DA-7E96-9ECF-CE982B3998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7C8F0-C7DF-1846-A5C5-2A484E4FDD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0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6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  <p:sldLayoutId id="2147483754" r:id="rId53"/>
    <p:sldLayoutId id="2147483755" r:id="rId5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rgbClr val="FF50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003-4F2B-294F-8F1A-9714C159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CH2</a:t>
            </a:r>
            <a:br>
              <a:rPr lang="en-US" dirty="0"/>
            </a:br>
            <a:r>
              <a:rPr lang="en-US" dirty="0"/>
              <a:t>Algorithm Performance Basics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2622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B331-9D8C-FA2B-3A99-D3CCF122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7AF5-633B-A573-AFE7-FE676D51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924" y="103345"/>
            <a:ext cx="5470771" cy="1391855"/>
          </a:xfrm>
        </p:spPr>
        <p:txBody>
          <a:bodyPr/>
          <a:lstStyle/>
          <a:p>
            <a:r>
              <a:rPr lang="en-US" dirty="0"/>
              <a:t>Agenda</a:t>
            </a:r>
            <a:endParaRPr lang="en-FI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AF9EC7-0644-1E8D-A412-906137213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4374" y="2198746"/>
            <a:ext cx="5041017" cy="367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Data Structures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Characteristics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Need for Data Structures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Algorithm Basics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Characteristics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Space Complexity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Time Complexity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Performance Basics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Analyzing Performance</a:t>
            </a:r>
          </a:p>
          <a:p>
            <a:pPr marL="1200150" lvl="1" indent="-457200">
              <a:buFont typeface="+mj-lt"/>
              <a:buAutoNum type="arabicPeriod"/>
            </a:pPr>
            <a:r>
              <a:rPr lang="en-US" dirty="0"/>
              <a:t>The Big O Notation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1E18ABF9-A3FA-3E4D-D2B0-21142F0AC874}"/>
              </a:ext>
            </a:extLst>
          </p:cNvPr>
          <p:cNvSpPr txBox="1"/>
          <p:nvPr/>
        </p:nvSpPr>
        <p:spPr>
          <a:xfrm>
            <a:off x="6466330" y="484199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Image: </a:t>
            </a:r>
            <a:r>
              <a:rPr lang="en-US" sz="800" i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Pixabay</a:t>
            </a:r>
            <a:endParaRPr lang="en-FI" sz="800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CABE51A3-B016-7FFF-F089-D2C5C8E10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962151"/>
            <a:ext cx="5119723" cy="287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1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8727-4001-19D5-E24A-2D2C37E1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7D8612A9-2A4F-10EF-FBBA-51315BD4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systematic way to organize data in order to use it efficiently!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Interface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Interface represents the </a:t>
            </a:r>
            <a:r>
              <a:rPr lang="en-US" dirty="0">
                <a:solidFill>
                  <a:schemeClr val="accent1"/>
                </a:solidFill>
              </a:rPr>
              <a:t>set of operations </a:t>
            </a:r>
            <a:r>
              <a:rPr lang="en-US" dirty="0"/>
              <a:t>that a data structure supports.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Implementation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Implementation provides the internal representation of a data structure. Implementation also provides the </a:t>
            </a:r>
            <a:r>
              <a:rPr lang="en-US" dirty="0">
                <a:solidFill>
                  <a:schemeClr val="accent1"/>
                </a:solidFill>
              </a:rPr>
              <a:t>definition of the algorithms used in the operations</a:t>
            </a:r>
            <a:r>
              <a:rPr lang="en-US" dirty="0"/>
              <a:t> of the data structure.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6AF2204-09EB-C2BB-B2A3-BD1A6F1DDF7A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 Data Structures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9FE1B8-B11A-15CA-6079-9F34DE34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8D76D8FC-32E0-E65C-9484-079A9F67F0D7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AA84DA14-9EFE-33D2-31F2-7138D19C17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24310" r="243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3251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73F8-AADF-BE51-5480-7DD66BF2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95953136-24AC-1871-807B-60F26645B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0559"/>
            <a:ext cx="5780741" cy="47635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1" dirty="0"/>
              <a:t>Correctness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i="1" dirty="0"/>
              <a:t>Data structure implementation should implement its interface</a:t>
            </a:r>
            <a:r>
              <a:rPr lang="en-US" sz="1400" i="1" dirty="0"/>
              <a:t> </a:t>
            </a:r>
            <a:r>
              <a:rPr lang="en-US" i="1" dirty="0"/>
              <a:t>correctly.</a:t>
            </a: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Time Complexity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Running time or the execution time of operations of data</a:t>
            </a:r>
            <a:r>
              <a:rPr lang="en-US" sz="1400" dirty="0"/>
              <a:t> </a:t>
            </a:r>
            <a:r>
              <a:rPr lang="en-US" dirty="0"/>
              <a:t>structure must be as small as possible.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Space Complexity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Memory usage of a data structure operation should be as</a:t>
            </a:r>
            <a:r>
              <a:rPr lang="en-US" sz="1400" dirty="0"/>
              <a:t> </a:t>
            </a:r>
            <a:r>
              <a:rPr lang="en-US" dirty="0"/>
              <a:t>little as possible.</a:t>
            </a:r>
            <a:endParaRPr lang="en-US" sz="14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A18977A2-4589-B59B-D169-A528E5E2EA26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1.1. Characteristics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E60EA87D-3CBB-CF31-305E-D6AB0EBFC366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60962440-7998-5E15-FBC3-1287ECCF94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r="39500"/>
          <a:stretch>
            <a:fillRect/>
          </a:stretch>
        </p:blipFill>
        <p:spPr>
          <a:xfrm>
            <a:off x="0" y="0"/>
            <a:ext cx="5147089" cy="5666154"/>
          </a:xfrm>
        </p:spPr>
      </p:pic>
    </p:spTree>
    <p:extLst>
      <p:ext uri="{BB962C8B-B14F-4D97-AF65-F5344CB8AC3E}">
        <p14:creationId xmlns:p14="http://schemas.microsoft.com/office/powerpoint/2010/main" val="75422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E923-3A4B-D2ED-BC1C-30C931F1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19CFFBF3-18E9-8F7A-FDE9-DE80921B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0559"/>
            <a:ext cx="5780741" cy="476354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Algorithm</a:t>
            </a:r>
            <a:r>
              <a:rPr lang="en-US" dirty="0"/>
              <a:t> = a step-by-step procedure, which defines a set of instructions to be executed in a certain order to get the desired output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Important </a:t>
            </a:r>
            <a:r>
              <a:rPr lang="en-US" dirty="0" err="1"/>
              <a:t>caregories</a:t>
            </a:r>
            <a:r>
              <a:rPr lang="en-US" dirty="0"/>
              <a:t> of algorithms: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Insert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Delete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9E4BB99-4363-10EC-50A2-23A6B60344D1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 Algorithm basics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78D706F7-197E-B4E9-22AA-7F71F3B209CF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8" name="Kuvan paikkamerkki 7">
            <a:extLst>
              <a:ext uri="{FF2B5EF4-FFF2-40B4-BE49-F238E27FC236}">
                <a16:creationId xmlns:a16="http://schemas.microsoft.com/office/drawing/2014/main" id="{EEB3A522-8975-C3E0-FE22-D0E8C8AB816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19721" r="197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8780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B43F-F778-4C4B-BBA6-DD601AF6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E3DCF799-7F42-BA3C-B33B-CF696759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r>
              <a:rPr lang="en-US" dirty="0"/>
              <a:t>An algorithm should have the following</a:t>
            </a:r>
            <a:endParaRPr lang="en-US" sz="2000" dirty="0"/>
          </a:p>
          <a:p>
            <a:r>
              <a:rPr lang="en-US" dirty="0"/>
              <a:t>Characteristics: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Unambiguous </a:t>
            </a:r>
            <a:r>
              <a:rPr lang="en-US" dirty="0"/>
              <a:t>(clear interpretation)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Finiteness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Feasibility </a:t>
            </a:r>
            <a:r>
              <a:rPr lang="en-US" dirty="0"/>
              <a:t>(doable)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Independent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E7AD1177-BBEB-9D24-61D2-6F79E8AD8239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2.1. Characteristics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C980B76F-CB96-295E-F104-C8121F2A8072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FC7BED57-C2D9-B65B-B6BD-BCC4125C0AC6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589DB002-FCD9-CFC1-A69F-0356C609F332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63FC14F9-C906-4998-6A5D-39684B7E0690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8" name="Kuvan paikkamerkki 7">
            <a:extLst>
              <a:ext uri="{FF2B5EF4-FFF2-40B4-BE49-F238E27FC236}">
                <a16:creationId xmlns:a16="http://schemas.microsoft.com/office/drawing/2014/main" id="{6D679EEC-071D-95C8-A1DE-D3A86E40B76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13563" b="135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8783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8453-6B2D-C1CA-C400-0134B009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28F8-5816-2252-6B34-168C6E37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271" y="561835"/>
            <a:ext cx="6600441" cy="1016000"/>
          </a:xfrm>
        </p:spPr>
        <p:txBody>
          <a:bodyPr>
            <a:normAutofit/>
          </a:bodyPr>
          <a:lstStyle/>
          <a:p>
            <a:r>
              <a:rPr lang="en-US" sz="3200" dirty="0"/>
              <a:t>Algorithm Example</a:t>
            </a:r>
            <a:endParaRPr lang="en-FI" dirty="0"/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1EA483C2-A6B7-962B-9FA0-1586E1007B32}"/>
              </a:ext>
            </a:extLst>
          </p:cNvPr>
          <p:cNvSpPr txBox="1"/>
          <p:nvPr/>
        </p:nvSpPr>
        <p:spPr>
          <a:xfrm>
            <a:off x="527271" y="1806972"/>
            <a:ext cx="59687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Problem − Design an algorithm to add two numbers and display the result.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step 1 − START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2 − declare three integers a, b &amp; c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3 − define values of a &amp; b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4 − add values of a &amp; b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5 − store output of step 4 to c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6 − print c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7 − STOP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Algorithms tell the programmers how to code the program!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8EA0F326-0FE6-6BFD-0354-05D260C2CEE0}"/>
              </a:ext>
            </a:extLst>
          </p:cNvPr>
          <p:cNvSpPr txBox="1"/>
          <p:nvPr/>
        </p:nvSpPr>
        <p:spPr>
          <a:xfrm>
            <a:off x="7289637" y="2114153"/>
            <a:ext cx="42878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Alternatively: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step 1 − START ADD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2 − get values of a &amp; b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3 − c ← a + b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4 − display c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step 5 − STOP</a:t>
            </a:r>
          </a:p>
        </p:txBody>
      </p:sp>
    </p:spTree>
    <p:extLst>
      <p:ext uri="{BB962C8B-B14F-4D97-AF65-F5344CB8AC3E}">
        <p14:creationId xmlns:p14="http://schemas.microsoft.com/office/powerpoint/2010/main" val="400788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890B9-AA6D-E4BD-ABF8-559A3833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D664E8C1-314D-069F-100A-DFADED27B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r>
              <a:rPr lang="en-US" dirty="0"/>
              <a:t>= The amount of memory space required by the algorithm in its life cycle!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Fixed part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space required to store certain data and variables, that are independent of the size of the problem (var, const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Variable part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space required by variables, whose size depends on the size of the problem (dynamic memory allocation, stack etc.)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46F778E1-CB60-4F34-55A5-8A164592F94A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2.2. Space Complexity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39FB337C-B397-4DCC-9F4C-F38C02138158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860B2492-3DB8-BC6B-207C-C0970D049E64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CB10AA11-23B5-98F9-B642-FF250C594A99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378F7533-C6CA-30EA-6A64-DE3764B3FFB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A744AC15-FA28-5178-1A00-567D915EC6AB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32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CB12-32BB-B904-4DFB-03681D875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D0F88106-5F1F-39D8-481F-4C4DB9046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r>
              <a:rPr lang="en-US" dirty="0"/>
              <a:t>Space complexity </a:t>
            </a:r>
            <a:r>
              <a:rPr lang="en-US" b="1" dirty="0">
                <a:solidFill>
                  <a:schemeClr val="tx2"/>
                </a:solidFill>
              </a:rPr>
              <a:t>S(P)</a:t>
            </a:r>
            <a:r>
              <a:rPr lang="en-US" dirty="0"/>
              <a:t> of any algorithm </a:t>
            </a:r>
            <a:r>
              <a:rPr lang="en-US" b="1" dirty="0">
                <a:solidFill>
                  <a:schemeClr val="tx2"/>
                </a:solidFill>
              </a:rPr>
              <a:t>P</a:t>
            </a:r>
            <a:r>
              <a:rPr lang="en-US" dirty="0"/>
              <a:t> is </a:t>
            </a:r>
            <a:r>
              <a:rPr lang="en-US" b="1" dirty="0">
                <a:solidFill>
                  <a:schemeClr val="accent1"/>
                </a:solidFill>
              </a:rPr>
              <a:t>S(P) = C + SP(I)</a:t>
            </a:r>
            <a:r>
              <a:rPr lang="en-US" b="1" dirty="0"/>
              <a:t>, </a:t>
            </a:r>
            <a:r>
              <a:rPr lang="en-US" dirty="0"/>
              <a:t>where </a:t>
            </a:r>
            <a:r>
              <a:rPr lang="en-US" b="1" dirty="0"/>
              <a:t>C</a:t>
            </a:r>
            <a:r>
              <a:rPr lang="en-US" dirty="0"/>
              <a:t> is the fixed part and </a:t>
            </a:r>
            <a:r>
              <a:rPr lang="en-US" b="1" dirty="0"/>
              <a:t>S(I)</a:t>
            </a:r>
            <a:r>
              <a:rPr lang="en-US" dirty="0"/>
              <a:t> is the variable part of the algorithm, which depends on instance characteristic </a:t>
            </a:r>
            <a:r>
              <a:rPr lang="en-US" b="1" dirty="0"/>
              <a:t>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Example Algorithm:   S(P) = 1 + 3</a:t>
            </a:r>
          </a:p>
          <a:p>
            <a:r>
              <a:rPr lang="en-US" dirty="0"/>
              <a:t>SUM(A, B)</a:t>
            </a:r>
          </a:p>
          <a:p>
            <a:r>
              <a:rPr lang="en-US" dirty="0"/>
              <a:t>Step 1 - START</a:t>
            </a:r>
          </a:p>
          <a:p>
            <a:r>
              <a:rPr lang="en-US" dirty="0"/>
              <a:t>Step 2 - C ← A + B + 10</a:t>
            </a:r>
          </a:p>
          <a:p>
            <a:r>
              <a:rPr lang="en-US" dirty="0"/>
              <a:t>Step 3 - Stop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0B8D283C-C044-C1AD-9ACA-0B8CC50ABB61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2.2. Space Complexity pt. 2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16219121-19C2-E3E2-BD8C-C71BAD0C79C0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010A4D84-A9A3-16AB-1701-4769D64A0E7F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759012C8-E44A-F0BB-8CEB-C19F0ADD8333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DD100253-1078-CF63-10D9-44172A7BDA0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76903A47-F157-F183-7E47-B8F61FDD42F2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633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7C71-8F31-0446-22A8-94CD7998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316A6A5F-3355-6A41-69D7-DF0195371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r>
              <a:rPr lang="en-US" dirty="0"/>
              <a:t>= The amount of time required by the algorithm to run to completion.</a:t>
            </a:r>
          </a:p>
          <a:p>
            <a:endParaRPr lang="en-US" dirty="0"/>
          </a:p>
          <a:p>
            <a:r>
              <a:rPr lang="en-US" dirty="0"/>
              <a:t>T(n) – Measured as number of steps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  <a:p>
            <a:r>
              <a:rPr lang="en-US" dirty="0"/>
              <a:t>Addition of two n-bit integers takes n steps. Consequently, the total computational time is T(n) = c*n, where c is the time taken for the addition of two bits.</a:t>
            </a:r>
            <a:br>
              <a:rPr lang="en-US" dirty="0"/>
            </a:br>
            <a:endParaRPr lang="en-US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6B24E1A1-061D-D9A8-994D-542CEEA9299A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2.3. Time Complexity</a:t>
            </a:r>
            <a:endParaRPr lang="en-FI" sz="2800" b="1" dirty="0">
              <a:solidFill>
                <a:schemeClr val="tx2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221D90-2EDB-B81F-167E-9198ED4AB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8873"/>
            <a:ext cx="5147089" cy="312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6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A4DE-EA75-9EAD-ED42-579852F9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5974BDED-760D-A3B2-7F43-B5F6B358D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r>
              <a:rPr lang="en-US" dirty="0"/>
              <a:t>Important to know how “fast” a program runs.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Hardware matters.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Deciding what algorithm to use is very important to all programmers!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Trade off between speed and memory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Programmer has to find the balance and decide!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B4E3A084-C46D-2864-6B85-56B03EDE5B89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2.3. Performance Basics</a:t>
            </a:r>
            <a:endParaRPr lang="en-FI" sz="2800" b="1" dirty="0">
              <a:solidFill>
                <a:schemeClr val="tx2"/>
              </a:solidFill>
            </a:endParaRPr>
          </a:p>
        </p:txBody>
      </p:sp>
      <p:pic>
        <p:nvPicPr>
          <p:cNvPr id="8" name="Kuvan paikkamerkki 7">
            <a:extLst>
              <a:ext uri="{FF2B5EF4-FFF2-40B4-BE49-F238E27FC236}">
                <a16:creationId xmlns:a16="http://schemas.microsoft.com/office/drawing/2014/main" id="{664F9B1D-C6E0-16B8-25BC-5482CFC7C61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2216" r="22216"/>
          <a:stretch>
            <a:fillRect/>
          </a:stretch>
        </p:blipFill>
        <p:spPr/>
      </p:pic>
      <p:sp>
        <p:nvSpPr>
          <p:cNvPr id="9" name="Tekstiruutu 8">
            <a:extLst>
              <a:ext uri="{FF2B5EF4-FFF2-40B4-BE49-F238E27FC236}">
                <a16:creationId xmlns:a16="http://schemas.microsoft.com/office/drawing/2014/main" id="{67073C2C-DF2F-707C-CC8C-1352EF008620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978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0177-3582-B108-6788-8C4503CB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2A489201-A22B-F17D-D8C3-88334BCC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mathematical function that shows how much </a:t>
            </a:r>
            <a:r>
              <a:rPr lang="en-US" dirty="0">
                <a:solidFill>
                  <a:schemeClr val="accent1"/>
                </a:solidFill>
              </a:rPr>
              <a:t>time</a:t>
            </a:r>
            <a:r>
              <a:rPr lang="en-US" dirty="0"/>
              <a:t> or </a:t>
            </a:r>
            <a:r>
              <a:rPr lang="en-US" dirty="0">
                <a:solidFill>
                  <a:schemeClr val="accent1"/>
                </a:solidFill>
              </a:rPr>
              <a:t>space</a:t>
            </a:r>
            <a:r>
              <a:rPr lang="en-US" dirty="0"/>
              <a:t> use is going to be needed </a:t>
            </a:r>
            <a:r>
              <a:rPr lang="en-US" b="1" dirty="0"/>
              <a:t>at worst </a:t>
            </a:r>
            <a:r>
              <a:rPr lang="en-US" dirty="0"/>
              <a:t>given different input sizes.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f(n) = c  -&gt; O(1), constants can be disregarded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57D5BAFC-8A77-794B-700A-897EE7140C04}"/>
              </a:ext>
            </a:extLst>
          </p:cNvPr>
          <p:cNvSpPr txBox="1"/>
          <p:nvPr/>
        </p:nvSpPr>
        <p:spPr>
          <a:xfrm>
            <a:off x="5796168" y="544790"/>
            <a:ext cx="5780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Analyzing Performance: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			Big O Notation</a:t>
            </a:r>
          </a:p>
          <a:p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F3556FF6-D054-9058-EF15-FF73A01F4F00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CC71BDAE-58FF-AAEE-A707-98C0E5F85E05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03FCA8EB-4939-8252-3BCD-2F768B606DD8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3179DEC1-6B95-0E4A-28F1-410FE0D6192D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2" name="Kuvan paikkamerkki 11">
            <a:extLst>
              <a:ext uri="{FF2B5EF4-FFF2-40B4-BE49-F238E27FC236}">
                <a16:creationId xmlns:a16="http://schemas.microsoft.com/office/drawing/2014/main" id="{2DE9FEAE-EF12-6CAE-3D51-F865B948133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19721" r="197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08489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4D063-6D93-C4B3-3756-6869158B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A7C9F41A-C5FB-2343-5AB6-D96CACDC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simple list of big O notations for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Fastest algorithm is one with O(1) and the slowest one is an algorithm with O(</a:t>
            </a:r>
            <a:r>
              <a:rPr lang="en-US" dirty="0" err="1"/>
              <a:t>n^n</a:t>
            </a:r>
            <a:r>
              <a:rPr lang="en-US" dirty="0"/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we have different algorithms to solve a problem, we can compare them by their big O notations.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118A6FC7-C43C-B257-061D-1D3438B6B9E2}"/>
              </a:ext>
            </a:extLst>
          </p:cNvPr>
          <p:cNvSpPr txBox="1"/>
          <p:nvPr/>
        </p:nvSpPr>
        <p:spPr>
          <a:xfrm>
            <a:off x="5796168" y="544790"/>
            <a:ext cx="5780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Analyzing Performance: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			Big O Notation pt 2</a:t>
            </a:r>
          </a:p>
          <a:p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1244E4FB-058D-D06B-F91E-BB028E887F94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2AEF6711-9EEF-5326-27D8-F35FA049D0C1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62CFCDE0-74A4-A892-F5E7-B5732E1CE98D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3EA7E4EC-97E5-7E95-E863-89615AF7817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26A6D163-D579-DEC1-518E-E72BA27967A9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7A5B45-DD24-361E-81D7-4EEC960DF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16" y="1618971"/>
            <a:ext cx="382905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80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6B1DB-1902-6DCF-245E-4A9D0AEA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47F8C80E-28FA-844F-94C0-FBF3A2A99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2161896"/>
            <a:ext cx="5780741" cy="331497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Big O is just a way to </a:t>
            </a:r>
            <a:r>
              <a:rPr lang="en-US" dirty="0">
                <a:solidFill>
                  <a:schemeClr val="accent1"/>
                </a:solidFill>
              </a:rPr>
              <a:t>represent</a:t>
            </a:r>
            <a:r>
              <a:rPr lang="en-US" dirty="0"/>
              <a:t> </a:t>
            </a:r>
            <a:r>
              <a:rPr lang="en-US" b="1" dirty="0"/>
              <a:t>time complexity </a:t>
            </a:r>
            <a:r>
              <a:rPr lang="en-US" dirty="0"/>
              <a:t>or </a:t>
            </a:r>
            <a:r>
              <a:rPr lang="en-US" b="1" dirty="0"/>
              <a:t>space complexity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Notice the small values of n (small input sizes)! The order can be different.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6C301DF3-B410-3326-5177-BD11D12D8C9C}"/>
              </a:ext>
            </a:extLst>
          </p:cNvPr>
          <p:cNvSpPr txBox="1"/>
          <p:nvPr/>
        </p:nvSpPr>
        <p:spPr>
          <a:xfrm>
            <a:off x="5796168" y="544790"/>
            <a:ext cx="5780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Analyzing Performance: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			Big O Notation pt 3</a:t>
            </a:r>
          </a:p>
          <a:p>
            <a:endParaRPr lang="en-FI" sz="2800" b="1" dirty="0">
              <a:solidFill>
                <a:schemeClr val="tx2"/>
              </a:solidFill>
            </a:endParaRPr>
          </a:p>
        </p:txBody>
      </p:sp>
      <p:pic>
        <p:nvPicPr>
          <p:cNvPr id="7" name="Picture 2" descr="How to find time complexity of an algorithm?">
            <a:extLst>
              <a:ext uri="{FF2B5EF4-FFF2-40B4-BE49-F238E27FC236}">
                <a16:creationId xmlns:a16="http://schemas.microsoft.com/office/drawing/2014/main" id="{4D949CD3-788F-F209-98F4-D73024FAF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838200"/>
            <a:ext cx="491222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98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246F-18CA-4FD6-4704-70024C4B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65AF35E8-FEA2-6230-4B3D-F784A06BD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843" y="2133042"/>
            <a:ext cx="5780741" cy="40201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&lt;- Example!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Worst case is pair not found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Take the highest polynomial factor!</a:t>
            </a:r>
          </a:p>
          <a:p>
            <a:endParaRPr lang="en-US" dirty="0"/>
          </a:p>
          <a:p>
            <a:r>
              <a:rPr lang="en-US" dirty="0"/>
              <a:t>f(n) = c * n^2 + 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Big O for this algorithm is?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c = time for each iteration. constant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d = operations (lines 2 &amp; 7). constant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 = size of array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673AD337-6AE2-CFBC-E923-19E74FBF2E50}"/>
              </a:ext>
            </a:extLst>
          </p:cNvPr>
          <p:cNvSpPr txBox="1"/>
          <p:nvPr/>
        </p:nvSpPr>
        <p:spPr>
          <a:xfrm>
            <a:off x="5796168" y="544790"/>
            <a:ext cx="5780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Analyzing Performance: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			Big O Notation pt 4</a:t>
            </a:r>
          </a:p>
          <a:p>
            <a:endParaRPr lang="en-FI" sz="2800" b="1" dirty="0">
              <a:solidFill>
                <a:schemeClr val="tx2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7325F7C-5165-93C0-105A-508FD580A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58336"/>
            <a:ext cx="5162550" cy="188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04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7BE1-3F73-F1E2-7B1F-5B8F6A51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C739-F032-021A-E0F0-DB957E5E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exercises!</a:t>
            </a:r>
            <a:endParaRPr lang="en-FI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938C3F7F-9A4F-B791-323C-AEEFCAB7F921}"/>
              </a:ext>
            </a:extLst>
          </p:cNvPr>
          <p:cNvSpPr txBox="1"/>
          <p:nvPr/>
        </p:nvSpPr>
        <p:spPr>
          <a:xfrm>
            <a:off x="8723249" y="5544836"/>
            <a:ext cx="346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tino.kankkunen@metropolia.fi</a:t>
            </a:r>
            <a:endParaRPr lang="en-FI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6584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a_webmaster">
  <a:themeElements>
    <a:clrScheme name="Metropolia_Webmaster">
      <a:dk1>
        <a:srgbClr val="FFFFFF"/>
      </a:dk1>
      <a:lt1>
        <a:srgbClr val="FFFFFF"/>
      </a:lt1>
      <a:dk2>
        <a:srgbClr val="53565A"/>
      </a:dk2>
      <a:lt2>
        <a:srgbClr val="53565A"/>
      </a:lt2>
      <a:accent1>
        <a:srgbClr val="FF5000"/>
      </a:accent1>
      <a:accent2>
        <a:srgbClr val="C2D500"/>
      </a:accent2>
      <a:accent3>
        <a:srgbClr val="00A0E1"/>
      </a:accent3>
      <a:accent4>
        <a:srgbClr val="E6007D"/>
      </a:accent4>
      <a:accent5>
        <a:srgbClr val="FFF000"/>
      </a:accent5>
      <a:accent6>
        <a:srgbClr val="FFFFFF"/>
      </a:accent6>
      <a:hlink>
        <a:srgbClr val="FF5000"/>
      </a:hlink>
      <a:folHlink>
        <a:srgbClr val="BC3A00"/>
      </a:folHlink>
    </a:clrScheme>
    <a:fontScheme name="Metropolia_web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0" id="{6C10D4A0-BE87-C045-BD2D-C32C846522EC}" vid="{968EBCE1-44A0-8648-ACBB-F37263CC06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Metropolia_webmaster</Template>
  <TotalTime>4959</TotalTime>
  <Words>909</Words>
  <Application>Microsoft Office PowerPoint</Application>
  <PresentationFormat>Custom</PresentationFormat>
  <Paragraphs>151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Metropolia_webmaster</vt:lpstr>
      <vt:lpstr>CH2 Algorithm Performance Basics</vt:lpstr>
      <vt:lpstr>Agenda</vt:lpstr>
      <vt:lpstr>PowerPoint Presentation</vt:lpstr>
      <vt:lpstr>PowerPoint Presentation</vt:lpstr>
      <vt:lpstr>PowerPoint Presentation</vt:lpstr>
      <vt:lpstr>PowerPoint Presentation</vt:lpstr>
      <vt:lpstr>Algorithm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for exercises!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Sakari Malmberg</dc:creator>
  <cp:keywords/>
  <dc:description/>
  <cp:lastModifiedBy>Tino Kankkunen</cp:lastModifiedBy>
  <cp:revision>1436</cp:revision>
  <dcterms:created xsi:type="dcterms:W3CDTF">2024-05-03T06:20:06Z</dcterms:created>
  <dcterms:modified xsi:type="dcterms:W3CDTF">2026-01-15T06:41:13Z</dcterms:modified>
  <cp:category/>
</cp:coreProperties>
</file>