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1" r:id="rId1"/>
  </p:sldMasterIdLst>
  <p:notesMasterIdLst>
    <p:notesMasterId r:id="rId13"/>
  </p:notesMasterIdLst>
  <p:sldIdLst>
    <p:sldId id="256" r:id="rId2"/>
    <p:sldId id="376" r:id="rId3"/>
    <p:sldId id="390" r:id="rId4"/>
    <p:sldId id="391" r:id="rId5"/>
    <p:sldId id="395" r:id="rId6"/>
    <p:sldId id="392" r:id="rId7"/>
    <p:sldId id="396" r:id="rId8"/>
    <p:sldId id="397" r:id="rId9"/>
    <p:sldId id="398" r:id="rId10"/>
    <p:sldId id="399" r:id="rId11"/>
    <p:sldId id="338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1111"/>
    <a:srgbClr val="FF5000"/>
    <a:srgbClr val="53565A"/>
    <a:srgbClr val="5A5A5A"/>
    <a:srgbClr val="E95D0F"/>
    <a:srgbClr val="00A0E1"/>
    <a:srgbClr val="FFF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266" autoAdjust="0"/>
    <p:restoredTop sz="94857" autoAdjust="0"/>
  </p:normalViewPr>
  <p:slideViewPr>
    <p:cSldViewPr snapToGrid="0" snapToObjects="1">
      <p:cViewPr varScale="1">
        <p:scale>
          <a:sx n="115" d="100"/>
          <a:sy n="115" d="100"/>
        </p:scale>
        <p:origin x="1344" y="77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F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A0C426-ABB5-484D-B716-1CF93F0C2624}" type="datetimeFigureOut">
              <a:rPr lang="en-FI" smtClean="0"/>
              <a:t>01/13/2026</a:t>
            </a:fld>
            <a:endParaRPr lang="en-F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F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E027FC-488F-154D-812F-E7571538DDB5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349664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027FC-488F-154D-812F-E7571538DDB5}" type="slidenum">
              <a:rPr lang="en-FI" smtClean="0"/>
              <a:t>1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6872587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42EAB-71B0-6856-2F2E-85DBFE325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B0E4F5-7DB1-BFC1-5DB6-3666E5E91F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B582BD-D8F7-769B-CA15-420056CD44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C76466-17A0-B5AD-3D87-5ACF8D5A8F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027FC-488F-154D-812F-E7571538DDB5}" type="slidenum">
              <a:rPr lang="en-FI" smtClean="0"/>
              <a:t>2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8771182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027FC-488F-154D-812F-E7571538DDB5}" type="slidenum">
              <a:rPr lang="en-FI" smtClean="0"/>
              <a:t>3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3188163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7FFBB-7BF6-7F51-5997-56D7F7E8A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9E9098-1A13-170D-B2AC-53CEA9324E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60E1B1-D724-437E-008D-A769339B45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A2BF4-D807-6527-C52D-8170F8EE68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027FC-488F-154D-812F-E7571538DDB5}" type="slidenum">
              <a:rPr lang="en-FI" smtClean="0"/>
              <a:t>11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97134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emf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emf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emf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03459" y="3705633"/>
            <a:ext cx="11162063" cy="1286529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4000" b="1">
                <a:solidFill>
                  <a:srgbClr val="FF5000"/>
                </a:solidFill>
              </a:defRPr>
            </a:lvl1pPr>
          </a:lstStyle>
          <a:p>
            <a:r>
              <a:rPr lang="fi-FI" dirty="0"/>
              <a:t>TITLE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A12EC4-E081-5747-BC9C-6ED420CBB3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279" y="0"/>
            <a:ext cx="12198748" cy="31650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12D5D5-8D69-4EE8-998A-AFCB860D5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279" y="0"/>
            <a:ext cx="12198748" cy="316503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3CC5D4E-371B-D868-6ACE-FCD7CA4B68E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598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03459" y="3705633"/>
            <a:ext cx="11162063" cy="1286529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4000" b="1">
                <a:solidFill>
                  <a:srgbClr val="FF5000"/>
                </a:solidFill>
              </a:defRPr>
            </a:lvl1pPr>
          </a:lstStyle>
          <a:p>
            <a:r>
              <a:rPr lang="fi-FI" dirty="0"/>
              <a:t>TITLE</a:t>
            </a:r>
            <a:endParaRPr lang="en-US" dirty="0"/>
          </a:p>
        </p:txBody>
      </p:sp>
      <p:pic>
        <p:nvPicPr>
          <p:cNvPr id="4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825" cy="31635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836A4C-B8F3-4A06-B45C-3490E7A0C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825" cy="31635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AA9CAF-808D-B45D-DB7F-37FF800F5E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379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03459" y="3705633"/>
            <a:ext cx="11162063" cy="1286529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4000" b="1">
                <a:solidFill>
                  <a:srgbClr val="FF5000"/>
                </a:solidFill>
              </a:defRPr>
            </a:lvl1pPr>
          </a:lstStyle>
          <a:p>
            <a:r>
              <a:rPr lang="fi-FI" dirty="0"/>
              <a:t>TITLE</a:t>
            </a:r>
            <a:endParaRPr lang="en-US" dirty="0"/>
          </a:p>
        </p:txBody>
      </p:sp>
      <p:pic>
        <p:nvPicPr>
          <p:cNvPr id="7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825" cy="31581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3F88AF-B055-4B9A-95B0-E2F7806A5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825" cy="31581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1DCA138-7B9C-0DFD-09BC-4BF5D70AAE4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074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503459" y="3705633"/>
            <a:ext cx="11162063" cy="1286529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4000" b="1">
                <a:solidFill>
                  <a:srgbClr val="FF5000"/>
                </a:solidFill>
              </a:defRPr>
            </a:lvl1pPr>
          </a:lstStyle>
          <a:p>
            <a:r>
              <a:rPr lang="fi-FI" dirty="0"/>
              <a:t>TITLE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7DDF97-2893-1442-AC4B-CA4A313DFF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825" cy="31581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BFD717-35FA-47B1-ACD5-5093B88F8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825" cy="31581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D18EF6-494E-74ED-7BC9-6C7CA1BA1DA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292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03459" y="3705633"/>
            <a:ext cx="11162063" cy="1286529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4000" b="1">
                <a:solidFill>
                  <a:srgbClr val="FF5000"/>
                </a:solidFill>
              </a:defRPr>
            </a:lvl1pPr>
          </a:lstStyle>
          <a:p>
            <a:r>
              <a:rPr lang="fi-FI" dirty="0"/>
              <a:t>TITLE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825" cy="316388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4468F9-53F1-07A1-B3D6-423D642926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792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F707F-5A56-7E4C-BB06-31D0E29E7B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643" y="1891456"/>
            <a:ext cx="5580769" cy="1306408"/>
          </a:xfrm>
        </p:spPr>
        <p:txBody>
          <a:bodyPr/>
          <a:lstStyle/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13643" y="3153832"/>
            <a:ext cx="5582039" cy="1306408"/>
          </a:xfrm>
        </p:spPr>
        <p:txBody>
          <a:bodyPr anchor="t" anchorCtr="0">
            <a:noAutofit/>
          </a:bodyPr>
          <a:lstStyle>
            <a:lvl1pPr marL="0" indent="0">
              <a:buNone/>
              <a:defRPr sz="4000" b="1" i="0">
                <a:solidFill>
                  <a:srgbClr val="5A5A5A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6699250" y="0"/>
            <a:ext cx="54895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86CB06-4BA3-A6DD-631E-FE12AE472B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6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11F5BD8-5755-4649-A5A9-D795BACA36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643" y="1891456"/>
            <a:ext cx="7632313" cy="1306408"/>
          </a:xfrm>
        </p:spPr>
        <p:txBody>
          <a:bodyPr/>
          <a:lstStyle/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13643" y="3153832"/>
            <a:ext cx="7632313" cy="1306408"/>
          </a:xfrm>
        </p:spPr>
        <p:txBody>
          <a:bodyPr anchor="t" anchorCtr="0">
            <a:noAutofit/>
          </a:bodyPr>
          <a:lstStyle>
            <a:lvl1pPr marL="0" indent="0">
              <a:buNone/>
              <a:defRPr sz="4000" b="1" i="0">
                <a:solidFill>
                  <a:srgbClr val="5A5A5A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A71502-0770-BBAC-4D92-728A6CC8E48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239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F2E91DB-40C0-2A45-B643-F8FAF408C3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51886" y="1891456"/>
            <a:ext cx="5580769" cy="1306408"/>
          </a:xfrm>
        </p:spPr>
        <p:txBody>
          <a:bodyPr/>
          <a:lstStyle/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6051886" y="3153832"/>
            <a:ext cx="5582039" cy="1306408"/>
          </a:xfrm>
        </p:spPr>
        <p:txBody>
          <a:bodyPr anchor="t" anchorCtr="0">
            <a:noAutofit/>
          </a:bodyPr>
          <a:lstStyle>
            <a:lvl1pPr marL="0" indent="0">
              <a:buNone/>
              <a:defRPr sz="4000" b="1" i="0">
                <a:solidFill>
                  <a:srgbClr val="5A5A5A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4895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86A4E4-9D17-CC93-B793-511DB5A90E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624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F47B53E-896C-8747-9BB8-4FDEA4D759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53156" y="1891456"/>
            <a:ext cx="5580769" cy="1306408"/>
          </a:xfrm>
        </p:spPr>
        <p:txBody>
          <a:bodyPr/>
          <a:lstStyle>
            <a:lvl1pPr>
              <a:defRPr>
                <a:solidFill>
                  <a:srgbClr val="FF5000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6051886" y="3153832"/>
            <a:ext cx="5582039" cy="1306408"/>
          </a:xfrm>
        </p:spPr>
        <p:txBody>
          <a:bodyPr anchor="t" anchorCtr="0">
            <a:noAutofit/>
          </a:bodyPr>
          <a:lstStyle>
            <a:lvl1pPr marL="0" indent="0">
              <a:buNone/>
              <a:defRPr sz="4000" b="1" i="0">
                <a:solidFill>
                  <a:srgbClr val="5A5A5A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pic>
        <p:nvPicPr>
          <p:cNvPr id="16" name="Pictur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5493543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C859D9-6DE1-4053-8C9B-5AE4BAFD26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5493543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B91147-7A96-F9F1-1AF0-4AC6682D1C0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524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6A93D4E-1CE0-7148-8EFC-D3906E47E6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643" y="1891456"/>
            <a:ext cx="5580769" cy="1306408"/>
          </a:xfrm>
        </p:spPr>
        <p:txBody>
          <a:bodyPr/>
          <a:lstStyle/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13643" y="3153832"/>
            <a:ext cx="5582039" cy="1306408"/>
          </a:xfrm>
        </p:spPr>
        <p:txBody>
          <a:bodyPr anchor="t" anchorCtr="0">
            <a:noAutofit/>
          </a:bodyPr>
          <a:lstStyle>
            <a:lvl1pPr marL="0" indent="0">
              <a:buNone/>
              <a:defRPr sz="4000" b="1" i="0">
                <a:solidFill>
                  <a:srgbClr val="5A5A5A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pic>
        <p:nvPicPr>
          <p:cNvPr id="4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99890" y="0"/>
            <a:ext cx="5488935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00A127-6F0F-49BB-9F1B-5C900142E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99890" y="0"/>
            <a:ext cx="5488935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581364-5D15-F8E5-E6C3-5CFF375C4E7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086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75F1AB5-C4FC-764C-9CDD-A8C635A1F2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18840" y="2481213"/>
            <a:ext cx="5470771" cy="1391855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4A44D8-D3F5-4744-8A4E-E1BD976D9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147089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66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FE5224-1214-4F7A-A134-C9152647F1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147089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66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C60225-6889-DC7B-7F46-C280A0FA53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4395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 with pictur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147089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BA622C8-44FF-B641-87C8-0B3497E28B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18840" y="2481213"/>
            <a:ext cx="5470771" cy="1391855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0" y="1191846"/>
            <a:ext cx="5147089" cy="566615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5A20AB-EF22-4AA1-A51E-0B2C734ED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147089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4A742F9-5931-C31A-CA8E-8FF1C80216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7234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 with pictur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147089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5796169" y="609602"/>
            <a:ext cx="5780741" cy="4601985"/>
          </a:xfrm>
        </p:spPr>
        <p:txBody>
          <a:bodyPr>
            <a:noAutofit/>
          </a:bodyPr>
          <a:lstStyle>
            <a:lvl1pPr marL="0" indent="0">
              <a:buClr>
                <a:srgbClr val="5A5A5A"/>
              </a:buClr>
              <a:buFont typeface="Arial"/>
              <a:buNone/>
              <a:defRPr sz="2400" baseline="0">
                <a:solidFill>
                  <a:srgbClr val="5A5A5A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147089" cy="566615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3936A6-D3F8-4C94-9D0F-5A9C20AF78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147089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07AB36-CC62-F029-4175-5FC71B6408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2203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8E0061-0A2F-B552-1AEB-39BBB2E03B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7944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41736" y="0"/>
            <a:ext cx="5147089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C7B0E63-F268-344A-9698-5F11E13776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8349" y="2481213"/>
            <a:ext cx="5470771" cy="1391855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368C6C-F645-41F0-811D-305DF0F12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41736" y="0"/>
            <a:ext cx="5147089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9D8E4A-30F4-0483-BC67-C27BEDF632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0775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 with pictur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41736" y="0"/>
            <a:ext cx="5147089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626A6A1-821B-3544-8E1B-66965F34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8349" y="2481213"/>
            <a:ext cx="5470771" cy="1391855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18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7041736" y="1191846"/>
            <a:ext cx="5147089" cy="566615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E9EF53-6FA3-4CCB-95D9-B0993F5F9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41736" y="0"/>
            <a:ext cx="5147089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6D1325-D353-255B-4CFF-6DEF895893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0656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 with pictur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41736" y="0"/>
            <a:ext cx="5147089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12" name="Content Placeholder 2"/>
          <p:cNvSpPr>
            <a:spLocks noGrp="1"/>
          </p:cNvSpPr>
          <p:nvPr>
            <p:ph idx="1" hasCustomPrompt="1"/>
          </p:nvPr>
        </p:nvSpPr>
        <p:spPr>
          <a:xfrm>
            <a:off x="650202" y="609602"/>
            <a:ext cx="5780741" cy="4601985"/>
          </a:xfrm>
        </p:spPr>
        <p:txBody>
          <a:bodyPr>
            <a:noAutofit/>
          </a:bodyPr>
          <a:lstStyle>
            <a:lvl1pPr marL="0" indent="0">
              <a:buClr>
                <a:srgbClr val="5A5A5A"/>
              </a:buClr>
              <a:buFont typeface="Arial"/>
              <a:buNone/>
              <a:defRPr sz="2400" baseline="0">
                <a:solidFill>
                  <a:srgbClr val="5A5A5A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15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7041736" y="0"/>
            <a:ext cx="5147089" cy="566615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A2205D-B21D-4CFA-93AC-4F842B7DA8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41736" y="0"/>
            <a:ext cx="5147089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308EE2-FE8D-0311-5B02-E788C3F701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5261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ex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754335" y="0"/>
            <a:ext cx="1434490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12" name="Content Placeholder 2"/>
          <p:cNvSpPr>
            <a:spLocks noGrp="1"/>
          </p:cNvSpPr>
          <p:nvPr>
            <p:ph idx="1" hasCustomPrompt="1"/>
          </p:nvPr>
        </p:nvSpPr>
        <p:spPr>
          <a:xfrm>
            <a:off x="650202" y="609602"/>
            <a:ext cx="9477499" cy="4601985"/>
          </a:xfrm>
        </p:spPr>
        <p:txBody>
          <a:bodyPr>
            <a:noAutofit/>
          </a:bodyPr>
          <a:lstStyle>
            <a:lvl1pPr marL="0" indent="0">
              <a:buClr>
                <a:srgbClr val="5A5A5A"/>
              </a:buClr>
              <a:buFont typeface="Arial"/>
              <a:buNone/>
              <a:defRPr sz="2400" baseline="0">
                <a:solidFill>
                  <a:srgbClr val="5A5A5A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55B7CF-7542-4F5F-B8C6-2AEFC3C1F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754335" y="0"/>
            <a:ext cx="1434490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AB00F9-207E-909A-4094-6F3D102FF0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0803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2222BBD-A73B-7945-9948-C8E90AEC1D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7271" y="550745"/>
            <a:ext cx="6600441" cy="1016000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E37CC2-F65E-5C36-F936-C829C3A9AF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3840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C557D06-B73F-0342-ADB9-E801D75568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7271" y="550745"/>
            <a:ext cx="6600441" cy="1016000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AE4233-2B54-1E59-577B-28006FB40F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5361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434490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633176A-37CE-D941-ABF9-7343B4BA7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90354" y="2626476"/>
            <a:ext cx="6756330" cy="1391855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20216D-BE30-4406-9ECE-AA8EE6C3C7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434490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D32AF1-D704-F2B9-ECE1-5BEE58678D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4644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_tex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754335" y="0"/>
            <a:ext cx="1434490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4DFCEC1-F84F-AB4F-BBDF-8FB2899C67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2953" y="529931"/>
            <a:ext cx="5470771" cy="1401203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992953" y="2183390"/>
            <a:ext cx="9118606" cy="2939888"/>
          </a:xfrm>
        </p:spPr>
        <p:txBody>
          <a:bodyPr>
            <a:noAutofit/>
          </a:bodyPr>
          <a:lstStyle>
            <a:lvl1pPr marL="0" indent="0">
              <a:buClr>
                <a:srgbClr val="5A5A5A"/>
              </a:buClr>
              <a:buFont typeface="Arial"/>
              <a:buNone/>
              <a:defRPr sz="2400" baseline="0">
                <a:solidFill>
                  <a:srgbClr val="5A5A5A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1615F9-2DC2-4A07-9DBA-CDC68210EE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754335" y="0"/>
            <a:ext cx="1434490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0A983C-BD36-FE2A-2E54-D854F159E0E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1050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_tex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434490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3A1F369-B4D9-1D4E-8129-28BA3151BA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67653" y="539279"/>
            <a:ext cx="5470771" cy="1391855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15" name="Content Placeholder 2"/>
          <p:cNvSpPr>
            <a:spLocks noGrp="1"/>
          </p:cNvSpPr>
          <p:nvPr>
            <p:ph idx="1" hasCustomPrompt="1"/>
          </p:nvPr>
        </p:nvSpPr>
        <p:spPr>
          <a:xfrm>
            <a:off x="2067653" y="2183390"/>
            <a:ext cx="9118606" cy="2939888"/>
          </a:xfrm>
        </p:spPr>
        <p:txBody>
          <a:bodyPr>
            <a:noAutofit/>
          </a:bodyPr>
          <a:lstStyle>
            <a:lvl1pPr marL="0" indent="0">
              <a:buClr>
                <a:srgbClr val="5A5A5A"/>
              </a:buClr>
              <a:buFont typeface="Arial"/>
              <a:buNone/>
              <a:defRPr sz="2400" baseline="0">
                <a:solidFill>
                  <a:srgbClr val="5A5A5A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DAEB68-F742-4B3E-A13B-8711E3718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434490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65D6B3-9FDF-65B6-F45A-9AA7B3011B5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4379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/quote/slogan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64336" y="0"/>
            <a:ext cx="6824488" cy="4500134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1484111" y="2243937"/>
            <a:ext cx="4456112" cy="1316038"/>
          </a:xfrm>
        </p:spPr>
        <p:txBody>
          <a:bodyPr>
            <a:normAutofit/>
          </a:bodyPr>
          <a:lstStyle>
            <a:lvl1pPr marL="0" indent="0">
              <a:buNone/>
              <a:defRPr sz="2800" baseline="0"/>
            </a:lvl1pPr>
          </a:lstStyle>
          <a:p>
            <a:pPr lvl="0"/>
            <a:r>
              <a:rPr lang="en-US" dirty="0"/>
              <a:t>Citation / quote / slogan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24912D-E388-A14F-97D4-CA4654920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15125" y="1390022"/>
            <a:ext cx="5473700" cy="546797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6319FE4-FBA9-4DEE-90B2-1C2EEF5EB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364336" y="0"/>
            <a:ext cx="6824488" cy="4500134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1899C8B-3D58-4FE3-BF3E-405E148261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15125" y="1390022"/>
            <a:ext cx="5473700" cy="54679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4B6E71-F6E9-0B2F-F450-FCAACC64D8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44539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/quote/slogan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64336" y="0"/>
            <a:ext cx="6824488" cy="4500134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1484111" y="2243937"/>
            <a:ext cx="4456112" cy="1316038"/>
          </a:xfrm>
        </p:spPr>
        <p:txBody>
          <a:bodyPr>
            <a:noAutofit/>
          </a:bodyPr>
          <a:lstStyle>
            <a:lvl1pPr marL="0" indent="0">
              <a:buNone/>
              <a:defRPr sz="2800" baseline="0"/>
            </a:lvl1pPr>
          </a:lstStyle>
          <a:p>
            <a:pPr lvl="0"/>
            <a:r>
              <a:rPr lang="en-US" dirty="0"/>
              <a:t>Citation / quote / slogan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6740525" y="1409700"/>
            <a:ext cx="5448300" cy="54483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B4F931-EDA8-4D82-BE6C-7968983D8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364336" y="0"/>
            <a:ext cx="6824488" cy="4500134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C55510-4E75-8D6A-598F-10C62E3967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13095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/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dia Placeholder 7"/>
          <p:cNvSpPr>
            <a:spLocks noGrp="1"/>
          </p:cNvSpPr>
          <p:nvPr>
            <p:ph type="media" sz="quarter" idx="10"/>
          </p:nvPr>
        </p:nvSpPr>
        <p:spPr>
          <a:xfrm>
            <a:off x="2995399" y="1612706"/>
            <a:ext cx="6198027" cy="3182412"/>
          </a:xfrm>
        </p:spPr>
        <p:txBody>
          <a:bodyPr/>
          <a:lstStyle/>
          <a:p>
            <a:r>
              <a:rPr lang="en-US"/>
              <a:t>Click icon to add media</a:t>
            </a:r>
            <a:endParaRPr lang="fi-FI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41C337-8AD2-9177-E47D-9BE30DB4FE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0878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020000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D271381-893E-2149-BD87-35BAD7920A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84681" y="2222786"/>
            <a:ext cx="2852771" cy="1699927"/>
          </a:xfrm>
        </p:spPr>
        <p:txBody>
          <a:bodyPr/>
          <a:lstStyle>
            <a:lvl1pPr algn="r">
              <a:defRPr sz="3000">
                <a:solidFill>
                  <a:srgbClr val="5A5A5A"/>
                </a:solidFill>
              </a:defRPr>
            </a:lvl1pPr>
          </a:lstStyle>
          <a:p>
            <a:pPr lvl="0"/>
            <a:r>
              <a:rPr lang="en-US" dirty="0"/>
              <a:t>THANKS/</a:t>
            </a:r>
            <a:br>
              <a:rPr lang="en-US" dirty="0"/>
            </a:br>
            <a:r>
              <a:rPr lang="en-US" dirty="0"/>
              <a:t>CREDITS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D30B59-681C-244E-9E75-267CB2469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100" y="1177636"/>
            <a:ext cx="7023100" cy="568036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5C4B1F0-B05C-4AC9-BCBB-EA1FD90A5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020000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B9DF37-1172-442C-A889-7718C52F2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100" y="1177636"/>
            <a:ext cx="7023100" cy="56803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40B165-DC6B-FB6D-76D9-771E6D3FFF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58391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03459" y="3705633"/>
            <a:ext cx="11162063" cy="1286529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4000" b="1">
                <a:solidFill>
                  <a:srgbClr val="FF5000"/>
                </a:solidFill>
              </a:defRPr>
            </a:lvl1pPr>
          </a:lstStyle>
          <a:p>
            <a:r>
              <a:rPr lang="fi-FI" dirty="0"/>
              <a:t>TITLE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A12EC4-E081-5747-BC9C-6ED420CBB3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279" y="0"/>
            <a:ext cx="12198748" cy="31650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12D5D5-8D69-4EE8-998A-AFCB860D5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279" y="0"/>
            <a:ext cx="12198748" cy="316503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E3FB059-D72B-4AC3-97F3-30DAA0E2C29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B79C817-1B1C-394E-5FF6-F103C5EFE21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869047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0701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2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03459" y="3705633"/>
            <a:ext cx="11162063" cy="1286529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4000" b="1">
                <a:solidFill>
                  <a:srgbClr val="FF5000"/>
                </a:solidFill>
              </a:defRPr>
            </a:lvl1pPr>
          </a:lstStyle>
          <a:p>
            <a:r>
              <a:rPr lang="fi-FI" dirty="0"/>
              <a:t>TITLE</a:t>
            </a:r>
            <a:endParaRPr lang="en-US" dirty="0"/>
          </a:p>
        </p:txBody>
      </p:sp>
      <p:pic>
        <p:nvPicPr>
          <p:cNvPr id="4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825" cy="31635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836A4C-B8F3-4A06-B45C-3490E7A0C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825" cy="316359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5286D65-F38B-A233-C0B0-C64328705E3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5474149-39EA-88DB-DF24-5ADA26B0B51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869047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49859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3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503459" y="3705633"/>
            <a:ext cx="11162063" cy="1286529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4000" b="1">
                <a:solidFill>
                  <a:srgbClr val="FF5000"/>
                </a:solidFill>
              </a:defRPr>
            </a:lvl1pPr>
          </a:lstStyle>
          <a:p>
            <a:r>
              <a:rPr lang="fi-FI" dirty="0"/>
              <a:t>TITLE</a:t>
            </a:r>
            <a:endParaRPr lang="en-US" dirty="0"/>
          </a:p>
        </p:txBody>
      </p:sp>
      <p:pic>
        <p:nvPicPr>
          <p:cNvPr id="7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825" cy="31581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3F88AF-B055-4B9A-95B0-E2F7806A5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825" cy="31581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37351F1-D098-C45B-D263-C365BB2DD3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83FEE2B-73DC-332B-6AF9-8A19F585F2F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869047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0469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4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503459" y="3705633"/>
            <a:ext cx="11162063" cy="1286529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4000" b="1">
                <a:solidFill>
                  <a:srgbClr val="FF5000"/>
                </a:solidFill>
              </a:defRPr>
            </a:lvl1pPr>
          </a:lstStyle>
          <a:p>
            <a:r>
              <a:rPr lang="fi-FI" dirty="0"/>
              <a:t>TITLE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7DDF97-2893-1442-AC4B-CA4A313DFF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825" cy="31581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BFD717-35FA-47B1-ACD5-5093B88F8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825" cy="31581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E72DE44-0142-F2BA-C70B-C587F6C0C7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F84D304-546B-F209-9A77-0187997EC65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869047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27959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5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03459" y="3705633"/>
            <a:ext cx="11162063" cy="1286529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4000" b="1">
                <a:solidFill>
                  <a:srgbClr val="FF5000"/>
                </a:solidFill>
              </a:defRPr>
            </a:lvl1pPr>
          </a:lstStyle>
          <a:p>
            <a:r>
              <a:rPr lang="fi-FI" dirty="0"/>
              <a:t>TITLE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825" cy="316388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02ABFC-E25C-EFCC-83C0-2FFA5346EA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65C1C22-5D0A-233B-2F05-77994E292EF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869047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76317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6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F707F-5A56-7E4C-BB06-31D0E29E7B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643" y="1891456"/>
            <a:ext cx="5580769" cy="1306408"/>
          </a:xfrm>
        </p:spPr>
        <p:txBody>
          <a:bodyPr/>
          <a:lstStyle/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13643" y="3153832"/>
            <a:ext cx="5582039" cy="1306408"/>
          </a:xfrm>
        </p:spPr>
        <p:txBody>
          <a:bodyPr anchor="t" anchorCtr="0">
            <a:noAutofit/>
          </a:bodyPr>
          <a:lstStyle>
            <a:lvl1pPr marL="0" indent="0">
              <a:buNone/>
              <a:defRPr sz="4000" b="1" i="0">
                <a:solidFill>
                  <a:srgbClr val="5A5A5A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6699250" y="0"/>
            <a:ext cx="54895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DB113E-C905-BB2C-F527-203853853F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07B649-C232-136C-35EB-B09746BE758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559133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31290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7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11F5BD8-5755-4649-A5A9-D795BACA36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643" y="1891456"/>
            <a:ext cx="7632313" cy="1306408"/>
          </a:xfrm>
        </p:spPr>
        <p:txBody>
          <a:bodyPr/>
          <a:lstStyle/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13643" y="3153832"/>
            <a:ext cx="7632313" cy="1306408"/>
          </a:xfrm>
        </p:spPr>
        <p:txBody>
          <a:bodyPr anchor="t" anchorCtr="0">
            <a:noAutofit/>
          </a:bodyPr>
          <a:lstStyle>
            <a:lvl1pPr marL="0" indent="0">
              <a:buNone/>
              <a:defRPr sz="4000" b="1" i="0">
                <a:solidFill>
                  <a:srgbClr val="5A5A5A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384CD1-D247-98F7-FCE2-F38F611E6A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9ECEDCE-C099-5DD8-DDB0-00810E5E72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559133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24835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8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F2E91DB-40C0-2A45-B643-F8FAF408C3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51886" y="1891456"/>
            <a:ext cx="5580769" cy="1306408"/>
          </a:xfrm>
        </p:spPr>
        <p:txBody>
          <a:bodyPr/>
          <a:lstStyle/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6051886" y="3153832"/>
            <a:ext cx="5582039" cy="1306408"/>
          </a:xfrm>
        </p:spPr>
        <p:txBody>
          <a:bodyPr anchor="t" anchorCtr="0">
            <a:noAutofit/>
          </a:bodyPr>
          <a:lstStyle>
            <a:lvl1pPr marL="0" indent="0">
              <a:buNone/>
              <a:defRPr sz="4000" b="1" i="0">
                <a:solidFill>
                  <a:srgbClr val="5A5A5A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4895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40B9D1-8937-0DED-9E8D-4F1DD8F464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98200DA-9F5B-5A25-6FCA-3FF7DAAD3D9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869047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6155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9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F47B53E-896C-8747-9BB8-4FDEA4D759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53156" y="1891456"/>
            <a:ext cx="5580769" cy="1306408"/>
          </a:xfrm>
        </p:spPr>
        <p:txBody>
          <a:bodyPr/>
          <a:lstStyle>
            <a:lvl1pPr>
              <a:defRPr>
                <a:solidFill>
                  <a:srgbClr val="FF5000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6051886" y="3153832"/>
            <a:ext cx="5582039" cy="1306408"/>
          </a:xfrm>
        </p:spPr>
        <p:txBody>
          <a:bodyPr anchor="t" anchorCtr="0">
            <a:noAutofit/>
          </a:bodyPr>
          <a:lstStyle>
            <a:lvl1pPr marL="0" indent="0">
              <a:buNone/>
              <a:defRPr sz="4000" b="1" i="0">
                <a:solidFill>
                  <a:srgbClr val="5A5A5A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pic>
        <p:nvPicPr>
          <p:cNvPr id="16" name="Pictur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5493543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C859D9-6DE1-4053-8C9B-5AE4BAFD26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5493543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2327F66-4372-20DC-E1BE-B960CA820A3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0DDCDA4-B01E-5570-510C-FE70E431051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869047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1629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10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6A93D4E-1CE0-7148-8EFC-D3906E47E6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643" y="1891456"/>
            <a:ext cx="5580769" cy="1306408"/>
          </a:xfrm>
        </p:spPr>
        <p:txBody>
          <a:bodyPr/>
          <a:lstStyle/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13643" y="3153832"/>
            <a:ext cx="5582039" cy="1306408"/>
          </a:xfrm>
        </p:spPr>
        <p:txBody>
          <a:bodyPr anchor="t" anchorCtr="0">
            <a:noAutofit/>
          </a:bodyPr>
          <a:lstStyle>
            <a:lvl1pPr marL="0" indent="0">
              <a:buNone/>
              <a:defRPr sz="4000" b="1" i="0">
                <a:solidFill>
                  <a:srgbClr val="5A5A5A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pic>
        <p:nvPicPr>
          <p:cNvPr id="4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99890" y="0"/>
            <a:ext cx="5488935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00A127-6F0F-49BB-9F1B-5C900142E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99890" y="0"/>
            <a:ext cx="5488935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247DD88-B9AC-E25F-F97E-2A974AA62AF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1056A62-B053-0965-FC19-543AB094C44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2559133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60823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_1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75F1AB5-C4FC-764C-9CDD-A8C635A1F2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18840" y="2481213"/>
            <a:ext cx="5470771" cy="1391855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4A44D8-D3F5-4744-8A4E-E1BD976D9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147089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66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FE5224-1214-4F7A-A134-C9152647F1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147089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66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8ED8BF-1CDF-E70F-74D0-8259FD8B8B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FF6F4AF-5EEB-A3B3-53E9-DB96F63F33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869047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218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 with picture_1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147089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BA622C8-44FF-B641-87C8-0B3497E28B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18840" y="2481213"/>
            <a:ext cx="5470771" cy="1391855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0" y="1191846"/>
            <a:ext cx="5147089" cy="566615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5A20AB-EF22-4AA1-A51E-0B2C734ED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147089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371AA0-10C0-C664-266B-BF7E33A6D9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C8CE864-45E5-945B-A8CB-11E142E084F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869047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99860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 with picture_1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147089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5796169" y="609602"/>
            <a:ext cx="5780741" cy="4601985"/>
          </a:xfrm>
        </p:spPr>
        <p:txBody>
          <a:bodyPr>
            <a:noAutofit/>
          </a:bodyPr>
          <a:lstStyle>
            <a:lvl1pPr marL="0" indent="0">
              <a:buClr>
                <a:srgbClr val="5A5A5A"/>
              </a:buClr>
              <a:buFont typeface="Arial"/>
              <a:buNone/>
              <a:defRPr sz="2400" baseline="0">
                <a:solidFill>
                  <a:srgbClr val="5A5A5A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147089" cy="566615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3936A6-D3F8-4C94-9D0F-5A9C20AF78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147089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5D7A55-392B-A76C-9FDF-82DE2C11C0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D91D133-8FFC-7DC8-869A-4FB103E3AB4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869047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33121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blank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2897D45-B39E-5B3D-C1CF-904A31B2E8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0D7ACE8-1633-8022-D253-78C799BF6BA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559133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7237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_2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41736" y="0"/>
            <a:ext cx="5147089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C7B0E63-F268-344A-9698-5F11E13776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8349" y="2481213"/>
            <a:ext cx="5470771" cy="1391855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368C6C-F645-41F0-811D-305DF0F12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41736" y="0"/>
            <a:ext cx="5147089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ADC9E2-DB17-B342-9FDD-DDC6319835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0BF35F1-10A8-160F-3260-BB8C83536BA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559133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32815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 with picture_2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41736" y="0"/>
            <a:ext cx="5147089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626A6A1-821B-3544-8E1B-66965F34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8349" y="2481213"/>
            <a:ext cx="5470771" cy="1391855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18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7041736" y="1191846"/>
            <a:ext cx="5147089" cy="566615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E9EF53-6FA3-4CCB-95D9-B0993F5F9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41736" y="0"/>
            <a:ext cx="5147089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F62EF4D-E06F-050B-473F-7553D83955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100EBFE-4B6E-1317-5F66-3345C70739B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559133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6688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 with picture_2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41736" y="0"/>
            <a:ext cx="5147089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12" name="Content Placeholder 2"/>
          <p:cNvSpPr>
            <a:spLocks noGrp="1"/>
          </p:cNvSpPr>
          <p:nvPr>
            <p:ph idx="1" hasCustomPrompt="1"/>
          </p:nvPr>
        </p:nvSpPr>
        <p:spPr>
          <a:xfrm>
            <a:off x="650202" y="609602"/>
            <a:ext cx="5780741" cy="4601985"/>
          </a:xfrm>
        </p:spPr>
        <p:txBody>
          <a:bodyPr>
            <a:noAutofit/>
          </a:bodyPr>
          <a:lstStyle>
            <a:lvl1pPr marL="0" indent="0">
              <a:buClr>
                <a:srgbClr val="5A5A5A"/>
              </a:buClr>
              <a:buFont typeface="Arial"/>
              <a:buNone/>
              <a:defRPr sz="2400" baseline="0">
                <a:solidFill>
                  <a:srgbClr val="5A5A5A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15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7041736" y="0"/>
            <a:ext cx="5147089" cy="566615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A2205D-B21D-4CFA-93AC-4F842B7DA8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41736" y="0"/>
            <a:ext cx="5147089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E6774D-6845-6D10-A9A0-10299B021A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C727230-6E10-1B9C-35FD-B1A4DABFF25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559133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46550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ext_1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754335" y="0"/>
            <a:ext cx="1434490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12" name="Content Placeholder 2"/>
          <p:cNvSpPr>
            <a:spLocks noGrp="1"/>
          </p:cNvSpPr>
          <p:nvPr>
            <p:ph idx="1" hasCustomPrompt="1"/>
          </p:nvPr>
        </p:nvSpPr>
        <p:spPr>
          <a:xfrm>
            <a:off x="650202" y="609602"/>
            <a:ext cx="9477499" cy="4601985"/>
          </a:xfrm>
        </p:spPr>
        <p:txBody>
          <a:bodyPr>
            <a:noAutofit/>
          </a:bodyPr>
          <a:lstStyle>
            <a:lvl1pPr marL="0" indent="0">
              <a:buClr>
                <a:srgbClr val="5A5A5A"/>
              </a:buClr>
              <a:buFont typeface="Arial"/>
              <a:buNone/>
              <a:defRPr sz="2400" baseline="0">
                <a:solidFill>
                  <a:srgbClr val="5A5A5A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55B7CF-7542-4F5F-B8C6-2AEFC3C1F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754335" y="0"/>
            <a:ext cx="1434490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11346B-8E88-D210-505F-723133C520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16FD4D8-435A-F69C-8416-3CF0AAC480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559133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39675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_3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2222BBD-A73B-7945-9948-C8E90AEC1D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7271" y="550745"/>
            <a:ext cx="6600441" cy="1016000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E3E35D-A225-192A-557D-6CE61DF4A1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F8DBAE6-1D88-F542-5050-32DF2E1BB85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559133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95321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_4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C557D06-B73F-0342-ADB9-E801D75568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7271" y="550745"/>
            <a:ext cx="6600441" cy="1016000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C5962E-D7CD-9E2F-187A-B65912DDDA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13FED91-CE66-6D16-3726-6153E53421A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869047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31718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_5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434490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633176A-37CE-D941-ABF9-7343B4BA7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90354" y="2626476"/>
            <a:ext cx="6756330" cy="1391855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20216D-BE30-4406-9ECE-AA8EE6C3C7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434490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8EB756-310D-B273-4E2A-7B7B9156DF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A96452F-2A80-46DD-6347-5BEA7E5B435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869047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45782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_text_1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754335" y="0"/>
            <a:ext cx="1434490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4DFCEC1-F84F-AB4F-BBDF-8FB2899C67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2953" y="529931"/>
            <a:ext cx="5470771" cy="1401203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992953" y="2183390"/>
            <a:ext cx="9118606" cy="2939888"/>
          </a:xfrm>
        </p:spPr>
        <p:txBody>
          <a:bodyPr>
            <a:noAutofit/>
          </a:bodyPr>
          <a:lstStyle>
            <a:lvl1pPr marL="0" indent="0">
              <a:buClr>
                <a:srgbClr val="5A5A5A"/>
              </a:buClr>
              <a:buFont typeface="Arial"/>
              <a:buNone/>
              <a:defRPr sz="2400" baseline="0">
                <a:solidFill>
                  <a:srgbClr val="5A5A5A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1615F9-2DC2-4A07-9DBA-CDC68210EE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754335" y="0"/>
            <a:ext cx="1434490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9C95BA6-76FC-9516-C325-0AE3E3B2EB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2A2D4EC-C994-FDEE-718C-314BD44B812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559133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02279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_title_text_2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434490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3A1F369-B4D9-1D4E-8129-28BA3151BA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67653" y="539279"/>
            <a:ext cx="5470771" cy="1391855"/>
          </a:xfrm>
        </p:spPr>
        <p:txBody>
          <a:bodyPr/>
          <a:lstStyle>
            <a:lvl1pPr>
              <a:defRPr sz="3000">
                <a:solidFill>
                  <a:srgbClr val="5A5A5A"/>
                </a:solidFill>
              </a:defRPr>
            </a:lvl1pPr>
          </a:lstStyle>
          <a:p>
            <a:r>
              <a:rPr lang="en-US" dirty="0"/>
              <a:t>TITLE</a:t>
            </a:r>
            <a:endParaRPr lang="en-FI" dirty="0"/>
          </a:p>
        </p:txBody>
      </p:sp>
      <p:sp>
        <p:nvSpPr>
          <p:cNvPr id="15" name="Content Placeholder 2"/>
          <p:cNvSpPr>
            <a:spLocks noGrp="1"/>
          </p:cNvSpPr>
          <p:nvPr>
            <p:ph idx="1" hasCustomPrompt="1"/>
          </p:nvPr>
        </p:nvSpPr>
        <p:spPr>
          <a:xfrm>
            <a:off x="2067653" y="2183390"/>
            <a:ext cx="9118606" cy="2939888"/>
          </a:xfrm>
        </p:spPr>
        <p:txBody>
          <a:bodyPr>
            <a:noAutofit/>
          </a:bodyPr>
          <a:lstStyle>
            <a:lvl1pPr marL="0" indent="0">
              <a:buClr>
                <a:srgbClr val="5A5A5A"/>
              </a:buClr>
              <a:buFont typeface="Arial"/>
              <a:buNone/>
              <a:defRPr sz="2400" baseline="0">
                <a:solidFill>
                  <a:srgbClr val="5A5A5A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DAEB68-F742-4B3E-A13B-8711E3718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434490" cy="6858000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EEB2B3-23C4-D22E-BDA7-DA1712AA98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2F14056-212B-D2A7-1441-1484490C51E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869047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12084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/quote/slogan_1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64336" y="0"/>
            <a:ext cx="6824488" cy="4500134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1484111" y="2243937"/>
            <a:ext cx="4456112" cy="1316038"/>
          </a:xfrm>
        </p:spPr>
        <p:txBody>
          <a:bodyPr>
            <a:normAutofit/>
          </a:bodyPr>
          <a:lstStyle>
            <a:lvl1pPr marL="0" indent="0">
              <a:buNone/>
              <a:defRPr sz="2800" baseline="0"/>
            </a:lvl1pPr>
          </a:lstStyle>
          <a:p>
            <a:pPr lvl="0"/>
            <a:r>
              <a:rPr lang="en-US" dirty="0"/>
              <a:t>Citation / quote / slogan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24912D-E388-A14F-97D4-CA4654920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15125" y="1390022"/>
            <a:ext cx="5473700" cy="546797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6319FE4-FBA9-4DEE-90B2-1C2EEF5EB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364336" y="0"/>
            <a:ext cx="6824488" cy="4500134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1899C8B-3D58-4FE3-BF3E-405E148261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15125" y="1390022"/>
            <a:ext cx="5473700" cy="54679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710DBD3-F230-212B-2926-56B0BB5F5CB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A247853-2A5E-C84D-F074-D74BFE00291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2559133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05114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/quote/slogan_2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64336" y="0"/>
            <a:ext cx="6824488" cy="4500134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1484111" y="2243937"/>
            <a:ext cx="4456112" cy="1316038"/>
          </a:xfrm>
        </p:spPr>
        <p:txBody>
          <a:bodyPr>
            <a:noAutofit/>
          </a:bodyPr>
          <a:lstStyle>
            <a:lvl1pPr marL="0" indent="0">
              <a:buNone/>
              <a:defRPr sz="2800" baseline="0"/>
            </a:lvl1pPr>
          </a:lstStyle>
          <a:p>
            <a:pPr lvl="0"/>
            <a:r>
              <a:rPr lang="en-US" dirty="0"/>
              <a:t>Citation / quote / slogan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6740525" y="1409700"/>
            <a:ext cx="5448300" cy="54483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B4F931-EDA8-4D82-BE6C-7968983D8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364336" y="0"/>
            <a:ext cx="6824488" cy="4500134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B442D8-B018-2425-A610-447C6A15F7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B5C2B28-A906-E013-CCD2-65DB89091CE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559133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85068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/media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dia Placeholder 7"/>
          <p:cNvSpPr>
            <a:spLocks noGrp="1"/>
          </p:cNvSpPr>
          <p:nvPr>
            <p:ph type="media" sz="quarter" idx="10"/>
          </p:nvPr>
        </p:nvSpPr>
        <p:spPr>
          <a:xfrm>
            <a:off x="2995399" y="1612706"/>
            <a:ext cx="6198027" cy="3182412"/>
          </a:xfrm>
        </p:spPr>
        <p:txBody>
          <a:bodyPr/>
          <a:lstStyle/>
          <a:p>
            <a:r>
              <a:rPr lang="en-US"/>
              <a:t>Click icon to add media</a:t>
            </a:r>
            <a:endParaRPr lang="fi-FI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6BE04B-FD03-B710-6F78-A304EF41AD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731" y="6064087"/>
            <a:ext cx="1965964" cy="5022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4A3FB4E-113B-F798-938F-8CAF3FBCF79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559133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15767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_U!R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020000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D271381-893E-2149-BD87-35BAD7920A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84681" y="2222786"/>
            <a:ext cx="2852771" cy="1699927"/>
          </a:xfrm>
        </p:spPr>
        <p:txBody>
          <a:bodyPr/>
          <a:lstStyle>
            <a:lvl1pPr algn="r">
              <a:defRPr sz="3000">
                <a:solidFill>
                  <a:srgbClr val="5A5A5A"/>
                </a:solidFill>
              </a:defRPr>
            </a:lvl1pPr>
          </a:lstStyle>
          <a:p>
            <a:pPr lvl="0"/>
            <a:r>
              <a:rPr lang="en-US" dirty="0"/>
              <a:t>THANKS/</a:t>
            </a:r>
            <a:br>
              <a:rPr lang="en-US" dirty="0"/>
            </a:br>
            <a:r>
              <a:rPr lang="en-US" dirty="0"/>
              <a:t>CREDITS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D30B59-681C-244E-9E75-267CB2469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100" y="1177636"/>
            <a:ext cx="7023100" cy="568036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5C4B1F0-B05C-4AC9-BCBB-EA1FD90A5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020000" cy="6858000"/>
          </a:xfrm>
          <a:prstGeom prst="rect">
            <a:avLst/>
          </a:prstGeom>
          <a:solidFill>
            <a:srgbClr val="FFF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6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B9DF37-1172-442C-A889-7718C52F2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100" y="1187575"/>
            <a:ext cx="7023100" cy="56803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4DCE5E5-08DA-7E96-9ECF-CE982B3998E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868906" y="6063194"/>
            <a:ext cx="1965964" cy="5022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C47C8F0-C7DF-1846-A5C5-2A484E4FDDD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869047" y="5726617"/>
            <a:ext cx="1731586" cy="12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805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600201"/>
            <a:ext cx="10969943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0764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  <p:sldLayoutId id="2147483719" r:id="rId18"/>
    <p:sldLayoutId id="2147483720" r:id="rId19"/>
    <p:sldLayoutId id="2147483721" r:id="rId20"/>
    <p:sldLayoutId id="2147483722" r:id="rId21"/>
    <p:sldLayoutId id="2147483723" r:id="rId22"/>
    <p:sldLayoutId id="2147483724" r:id="rId23"/>
    <p:sldLayoutId id="2147483725" r:id="rId24"/>
    <p:sldLayoutId id="2147483726" r:id="rId25"/>
    <p:sldLayoutId id="2147483727" r:id="rId26"/>
    <p:sldLayoutId id="2147483728" r:id="rId27"/>
    <p:sldLayoutId id="2147483729" r:id="rId28"/>
    <p:sldLayoutId id="2147483730" r:id="rId29"/>
    <p:sldLayoutId id="2147483731" r:id="rId30"/>
    <p:sldLayoutId id="2147483732" r:id="rId31"/>
    <p:sldLayoutId id="2147483733" r:id="rId32"/>
    <p:sldLayoutId id="2147483734" r:id="rId33"/>
    <p:sldLayoutId id="2147483735" r:id="rId34"/>
    <p:sldLayoutId id="2147483736" r:id="rId35"/>
    <p:sldLayoutId id="2147483737" r:id="rId36"/>
    <p:sldLayoutId id="2147483738" r:id="rId37"/>
    <p:sldLayoutId id="2147483739" r:id="rId38"/>
    <p:sldLayoutId id="2147483740" r:id="rId39"/>
    <p:sldLayoutId id="2147483741" r:id="rId40"/>
    <p:sldLayoutId id="2147483742" r:id="rId41"/>
    <p:sldLayoutId id="2147483743" r:id="rId42"/>
    <p:sldLayoutId id="2147483744" r:id="rId43"/>
    <p:sldLayoutId id="2147483745" r:id="rId44"/>
    <p:sldLayoutId id="2147483746" r:id="rId45"/>
    <p:sldLayoutId id="2147483747" r:id="rId46"/>
    <p:sldLayoutId id="2147483748" r:id="rId47"/>
    <p:sldLayoutId id="2147483749" r:id="rId48"/>
    <p:sldLayoutId id="2147483750" r:id="rId49"/>
    <p:sldLayoutId id="2147483751" r:id="rId50"/>
    <p:sldLayoutId id="2147483752" r:id="rId51"/>
    <p:sldLayoutId id="2147483753" r:id="rId52"/>
    <p:sldLayoutId id="2147483754" r:id="rId53"/>
    <p:sldLayoutId id="2147483755" r:id="rId5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i="0" kern="1200">
          <a:solidFill>
            <a:srgbClr val="FF5000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ln>
            <a:noFill/>
          </a:ln>
          <a:solidFill>
            <a:srgbClr val="53565A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ln>
            <a:noFill/>
          </a:ln>
          <a:solidFill>
            <a:srgbClr val="53565A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ln>
            <a:noFill/>
          </a:ln>
          <a:solidFill>
            <a:srgbClr val="53565A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ln>
            <a:noFill/>
          </a:ln>
          <a:solidFill>
            <a:srgbClr val="53565A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ln>
            <a:noFill/>
          </a:ln>
          <a:solidFill>
            <a:srgbClr val="53565A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ED003-4F2B-294F-8F1A-9714C1591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CH1</a:t>
            </a:r>
            <a:br>
              <a:rPr lang="en-US" dirty="0"/>
            </a:br>
            <a:r>
              <a:rPr lang="en-US" dirty="0"/>
              <a:t>Python Data Types &amp; Structures Summary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4126226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0B331-9D8C-FA2B-3A99-D3CCF122A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37AF5-633B-A573-AFE7-FE676D51A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6924" y="103345"/>
            <a:ext cx="5470771" cy="1391855"/>
          </a:xfrm>
        </p:spPr>
        <p:txBody>
          <a:bodyPr/>
          <a:lstStyle/>
          <a:p>
            <a:r>
              <a:rPr lang="en-US" dirty="0"/>
              <a:t>Agenda</a:t>
            </a:r>
            <a:endParaRPr lang="en-FI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2AF9EC7-0644-1E8D-A412-906137213E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66924" y="1868573"/>
            <a:ext cx="5041017" cy="3120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Data Types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Variables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Flow Control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Operators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Functions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Objects &amp; Classes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Misc</a:t>
            </a:r>
            <a:endParaRPr lang="en-FI" dirty="0"/>
          </a:p>
        </p:txBody>
      </p:sp>
      <p:sp>
        <p:nvSpPr>
          <p:cNvPr id="6" name="Tekstiruutu 5">
            <a:extLst>
              <a:ext uri="{FF2B5EF4-FFF2-40B4-BE49-F238E27FC236}">
                <a16:creationId xmlns:a16="http://schemas.microsoft.com/office/drawing/2014/main" id="{1E18ABF9-A3FA-3E4D-D2B0-21142F0AC874}"/>
              </a:ext>
            </a:extLst>
          </p:cNvPr>
          <p:cNvSpPr txBox="1"/>
          <p:nvPr/>
        </p:nvSpPr>
        <p:spPr>
          <a:xfrm>
            <a:off x="6466330" y="4841994"/>
            <a:ext cx="4000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Image: </a:t>
            </a:r>
            <a:r>
              <a:rPr lang="en-US" sz="800" i="1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Pixabay</a:t>
            </a:r>
            <a:endParaRPr lang="en-FI" sz="800" i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7" name="Kuva 6">
            <a:extLst>
              <a:ext uri="{FF2B5EF4-FFF2-40B4-BE49-F238E27FC236}">
                <a16:creationId xmlns:a16="http://schemas.microsoft.com/office/drawing/2014/main" id="{0FAA0699-CE3F-11AD-1566-321B9A0143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6330" y="1372979"/>
            <a:ext cx="5200983" cy="3469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312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B8727-4001-19D5-E24A-2D2C37E16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sällön paikkamerkki 1">
            <a:extLst>
              <a:ext uri="{FF2B5EF4-FFF2-40B4-BE49-F238E27FC236}">
                <a16:creationId xmlns:a16="http://schemas.microsoft.com/office/drawing/2014/main" id="{7D8612A9-2A4F-10EF-FBBA-51315BD42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6167" y="1363418"/>
            <a:ext cx="5780741" cy="495300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Python offers some built-in basic data types, such as: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None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Integers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Floats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Booleans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Strings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Tuples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Lists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Dictionaries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Sets</a:t>
            </a:r>
            <a:br>
              <a:rPr lang="en-US" dirty="0"/>
            </a:b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We use these basic data objects through </a:t>
            </a:r>
            <a:r>
              <a:rPr lang="en-US" b="1" dirty="0"/>
              <a:t>variables</a:t>
            </a:r>
          </a:p>
        </p:txBody>
      </p:sp>
      <p:sp>
        <p:nvSpPr>
          <p:cNvPr id="4" name="Tekstiruutu 3">
            <a:extLst>
              <a:ext uri="{FF2B5EF4-FFF2-40B4-BE49-F238E27FC236}">
                <a16:creationId xmlns:a16="http://schemas.microsoft.com/office/drawing/2014/main" id="{F6AF2204-09EB-C2BB-B2A3-BD1A6F1DDF7A}"/>
              </a:ext>
            </a:extLst>
          </p:cNvPr>
          <p:cNvSpPr txBox="1"/>
          <p:nvPr/>
        </p:nvSpPr>
        <p:spPr>
          <a:xfrm>
            <a:off x="5796168" y="544790"/>
            <a:ext cx="5780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/>
                </a:solidFill>
              </a:rPr>
              <a:t>1. Data Types</a:t>
            </a:r>
            <a:endParaRPr lang="en-FI" sz="2800" b="1" dirty="0">
              <a:solidFill>
                <a:schemeClr val="tx2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69FE1B8-B11A-15CA-6079-9F34DE34E9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FI" altLang="en-F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kstiruutu 7">
            <a:extLst>
              <a:ext uri="{FF2B5EF4-FFF2-40B4-BE49-F238E27FC236}">
                <a16:creationId xmlns:a16="http://schemas.microsoft.com/office/drawing/2014/main" id="{8D76D8FC-32E0-E65C-9484-079A9F67F0D7}"/>
              </a:ext>
            </a:extLst>
          </p:cNvPr>
          <p:cNvSpPr txBox="1"/>
          <p:nvPr/>
        </p:nvSpPr>
        <p:spPr>
          <a:xfrm>
            <a:off x="0" y="5666154"/>
            <a:ext cx="4000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chemeClr val="tx2"/>
                </a:solidFill>
              </a:rPr>
              <a:t>Image from </a:t>
            </a:r>
            <a:r>
              <a:rPr lang="en-US" sz="800" i="1" dirty="0" err="1">
                <a:solidFill>
                  <a:schemeClr val="tx2"/>
                </a:solidFill>
              </a:rPr>
              <a:t>Pixabay</a:t>
            </a:r>
            <a:endParaRPr lang="en-FI" sz="800" i="1" dirty="0">
              <a:solidFill>
                <a:schemeClr val="tx2"/>
              </a:solidFill>
            </a:endParaRPr>
          </a:p>
        </p:txBody>
      </p:sp>
      <p:pic>
        <p:nvPicPr>
          <p:cNvPr id="15" name="Kuvan paikkamerkki 14">
            <a:extLst>
              <a:ext uri="{FF2B5EF4-FFF2-40B4-BE49-F238E27FC236}">
                <a16:creationId xmlns:a16="http://schemas.microsoft.com/office/drawing/2014/main" id="{C99FDD7A-F3D1-DDB0-CBB7-6D85F5EFF21E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/>
          <a:srcRect l="19750" r="19750"/>
          <a:stretch>
            <a:fillRect/>
          </a:stretch>
        </p:blipFill>
        <p:spPr/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B6F81039-1C20-7FE2-E9BD-676F355B4E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8498" y="2847725"/>
            <a:ext cx="1914525" cy="67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2512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A73F8-AADF-BE51-5480-7DD66BF28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sällön paikkamerkki 1">
            <a:extLst>
              <a:ext uri="{FF2B5EF4-FFF2-40B4-BE49-F238E27FC236}">
                <a16:creationId xmlns:a16="http://schemas.microsoft.com/office/drawing/2014/main" id="{95953136-24AC-1871-807B-60F26645B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6168" y="1380559"/>
            <a:ext cx="5780741" cy="476354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Python stores data that is stored in </a:t>
            </a:r>
            <a:r>
              <a:rPr lang="en-US" sz="2000" b="1" dirty="0"/>
              <a:t>memory. </a:t>
            </a:r>
            <a:r>
              <a:rPr lang="en-US" sz="2000" dirty="0"/>
              <a:t>A variable is actually a </a:t>
            </a:r>
            <a:r>
              <a:rPr lang="en-US" sz="2000" b="1" dirty="0"/>
              <a:t>pointer</a:t>
            </a:r>
            <a:r>
              <a:rPr lang="en-US" sz="2000" dirty="0"/>
              <a:t> to that memory location! </a:t>
            </a:r>
          </a:p>
          <a:p>
            <a:endParaRPr lang="en-US" sz="2000" dirty="0"/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1" u="sng" dirty="0"/>
              <a:t>a</a:t>
            </a:r>
            <a:r>
              <a:rPr lang="en-US" sz="2000" dirty="0"/>
              <a:t>  &amp;  </a:t>
            </a:r>
            <a:r>
              <a:rPr lang="en-US" sz="2000" i="1" u="sng" dirty="0"/>
              <a:t>b</a:t>
            </a:r>
            <a:r>
              <a:rPr lang="en-US" sz="2000" dirty="0"/>
              <a:t> are both pointers, pointing to the same object in memory.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With mutable (changing) objects like Python lists or dictionaries this can have unexpected effects. -&gt; </a:t>
            </a:r>
            <a:r>
              <a:rPr lang="en-US" sz="2000" b="1" dirty="0"/>
              <a:t>Example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If you modify an object inside a function, it's also modified for the variables that refer it outside the function. </a:t>
            </a:r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4" name="Tekstiruutu 3">
            <a:extLst>
              <a:ext uri="{FF2B5EF4-FFF2-40B4-BE49-F238E27FC236}">
                <a16:creationId xmlns:a16="http://schemas.microsoft.com/office/drawing/2014/main" id="{A18977A2-4589-B59B-D169-A528E5E2EA26}"/>
              </a:ext>
            </a:extLst>
          </p:cNvPr>
          <p:cNvSpPr txBox="1"/>
          <p:nvPr/>
        </p:nvSpPr>
        <p:spPr>
          <a:xfrm>
            <a:off x="5796168" y="544790"/>
            <a:ext cx="5780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/>
                </a:solidFill>
              </a:rPr>
              <a:t>2. Variables pt.1</a:t>
            </a:r>
            <a:endParaRPr lang="en-FI" sz="2800" b="1" dirty="0">
              <a:solidFill>
                <a:schemeClr val="tx2"/>
              </a:solidFill>
            </a:endParaRPr>
          </a:p>
        </p:txBody>
      </p:sp>
      <p:sp>
        <p:nvSpPr>
          <p:cNvPr id="6" name="Tekstiruutu 5">
            <a:extLst>
              <a:ext uri="{FF2B5EF4-FFF2-40B4-BE49-F238E27FC236}">
                <a16:creationId xmlns:a16="http://schemas.microsoft.com/office/drawing/2014/main" id="{E60EA87D-3CBB-CF31-305E-D6AB0EBFC366}"/>
              </a:ext>
            </a:extLst>
          </p:cNvPr>
          <p:cNvSpPr txBox="1"/>
          <p:nvPr/>
        </p:nvSpPr>
        <p:spPr>
          <a:xfrm>
            <a:off x="0" y="5666154"/>
            <a:ext cx="4000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chemeClr val="tx2"/>
                </a:solidFill>
              </a:rPr>
              <a:t>Image from </a:t>
            </a:r>
            <a:r>
              <a:rPr lang="en-US" sz="800" i="1" dirty="0" err="1">
                <a:solidFill>
                  <a:schemeClr val="tx2"/>
                </a:solidFill>
              </a:rPr>
              <a:t>Pixabay</a:t>
            </a:r>
            <a:endParaRPr lang="en-FI" sz="800" i="1" dirty="0">
              <a:solidFill>
                <a:schemeClr val="tx2"/>
              </a:solidFill>
            </a:endParaRPr>
          </a:p>
        </p:txBody>
      </p:sp>
      <p:pic>
        <p:nvPicPr>
          <p:cNvPr id="11" name="Kuvan paikkamerkki 10">
            <a:extLst>
              <a:ext uri="{FF2B5EF4-FFF2-40B4-BE49-F238E27FC236}">
                <a16:creationId xmlns:a16="http://schemas.microsoft.com/office/drawing/2014/main" id="{60962440-7998-5E15-FBC3-1287ECCF94EE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r="39500"/>
          <a:stretch>
            <a:fillRect/>
          </a:stretch>
        </p:blipFill>
        <p:spPr>
          <a:xfrm>
            <a:off x="0" y="0"/>
            <a:ext cx="5147089" cy="5666154"/>
          </a:xfr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13AA536E-F855-24D3-D266-7746110777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0695" y="2109627"/>
            <a:ext cx="1447800" cy="619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Kuvan paikkamerkki 12">
            <a:extLst>
              <a:ext uri="{FF2B5EF4-FFF2-40B4-BE49-F238E27FC236}">
                <a16:creationId xmlns:a16="http://schemas.microsoft.com/office/drawing/2014/main" id="{BBBE672E-95D4-E545-F30D-E3EA47E0785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581" r="4581"/>
          <a:stretch>
            <a:fillRect/>
          </a:stretch>
        </p:blipFill>
        <p:spPr>
          <a:xfrm>
            <a:off x="0" y="0"/>
            <a:ext cx="5147089" cy="5666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227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4B43F-F778-4C4B-BBA6-DD601AF61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sällön paikkamerkki 1">
            <a:extLst>
              <a:ext uri="{FF2B5EF4-FFF2-40B4-BE49-F238E27FC236}">
                <a16:creationId xmlns:a16="http://schemas.microsoft.com/office/drawing/2014/main" id="{E3DCF799-7F42-BA3C-B33B-CF6967597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6168" y="1618971"/>
            <a:ext cx="5780741" cy="499370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Python </a:t>
            </a:r>
            <a:r>
              <a:rPr lang="en-US" sz="2000" b="1" dirty="0"/>
              <a:t>lists</a:t>
            </a:r>
            <a:r>
              <a:rPr lang="en-US" sz="2000" dirty="0"/>
              <a:t> are a set of ordered objects that can be accessed by their index.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Tuples</a:t>
            </a:r>
            <a:r>
              <a:rPr lang="en-US" sz="2000" dirty="0"/>
              <a:t> – same as lists but immutable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Sets</a:t>
            </a:r>
            <a:r>
              <a:rPr lang="en-US" sz="2000" dirty="0"/>
              <a:t> – collection of objects as well but can’t be accessed by an index and cannot contain duplicates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Lists, tuples, sets and strings are also sequences. -&gt; </a:t>
            </a:r>
            <a:r>
              <a:rPr lang="en-US" sz="2000" b="1" dirty="0"/>
              <a:t>Example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Sequences are also “</a:t>
            </a:r>
            <a:r>
              <a:rPr lang="en-US" sz="2000" dirty="0" err="1"/>
              <a:t>iterables</a:t>
            </a:r>
            <a:r>
              <a:rPr lang="en-US" sz="2000" dirty="0"/>
              <a:t>”. Can be traversed in order.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Dictionaries </a:t>
            </a:r>
            <a:r>
              <a:rPr lang="en-US" sz="2000" dirty="0"/>
              <a:t>are also </a:t>
            </a:r>
            <a:r>
              <a:rPr lang="en-US" sz="2000" dirty="0" err="1"/>
              <a:t>iterable</a:t>
            </a:r>
            <a:r>
              <a:rPr lang="en-US" sz="2000" dirty="0"/>
              <a:t> -&gt; </a:t>
            </a:r>
            <a:r>
              <a:rPr lang="en-US" sz="2000" b="1" dirty="0"/>
              <a:t>Example</a:t>
            </a:r>
          </a:p>
        </p:txBody>
      </p:sp>
      <p:sp>
        <p:nvSpPr>
          <p:cNvPr id="4" name="Tekstiruutu 3">
            <a:extLst>
              <a:ext uri="{FF2B5EF4-FFF2-40B4-BE49-F238E27FC236}">
                <a16:creationId xmlns:a16="http://schemas.microsoft.com/office/drawing/2014/main" id="{E7AD1177-BBEB-9D24-61D2-6F79E8AD8239}"/>
              </a:ext>
            </a:extLst>
          </p:cNvPr>
          <p:cNvSpPr txBox="1"/>
          <p:nvPr/>
        </p:nvSpPr>
        <p:spPr>
          <a:xfrm>
            <a:off x="5796168" y="544790"/>
            <a:ext cx="5780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/>
                </a:solidFill>
              </a:rPr>
              <a:t>2. Variables pt. 2</a:t>
            </a:r>
            <a:endParaRPr lang="en-FI" sz="2800" b="1" dirty="0">
              <a:solidFill>
                <a:schemeClr val="tx2"/>
              </a:solidFill>
            </a:endParaRPr>
          </a:p>
        </p:txBody>
      </p:sp>
      <p:sp>
        <p:nvSpPr>
          <p:cNvPr id="3" name="Tekstiruutu 2">
            <a:extLst>
              <a:ext uri="{FF2B5EF4-FFF2-40B4-BE49-F238E27FC236}">
                <a16:creationId xmlns:a16="http://schemas.microsoft.com/office/drawing/2014/main" id="{C980B76F-CB96-295E-F104-C8121F2A8072}"/>
              </a:ext>
            </a:extLst>
          </p:cNvPr>
          <p:cNvSpPr txBox="1"/>
          <p:nvPr/>
        </p:nvSpPr>
        <p:spPr>
          <a:xfrm>
            <a:off x="0" y="5428972"/>
            <a:ext cx="223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Image source: </a:t>
            </a:r>
            <a:r>
              <a:rPr lang="en-US" sz="900" dirty="0" err="1"/>
              <a:t>Pixabay</a:t>
            </a:r>
            <a:endParaRPr lang="en-FI" sz="900" dirty="0"/>
          </a:p>
        </p:txBody>
      </p:sp>
      <p:sp>
        <p:nvSpPr>
          <p:cNvPr id="9" name="Tekstiruutu 8">
            <a:extLst>
              <a:ext uri="{FF2B5EF4-FFF2-40B4-BE49-F238E27FC236}">
                <a16:creationId xmlns:a16="http://schemas.microsoft.com/office/drawing/2014/main" id="{FC7BED57-C2D9-B65B-B6BD-BCC4125C0AC6}"/>
              </a:ext>
            </a:extLst>
          </p:cNvPr>
          <p:cNvSpPr txBox="1"/>
          <p:nvPr/>
        </p:nvSpPr>
        <p:spPr>
          <a:xfrm>
            <a:off x="0" y="5450710"/>
            <a:ext cx="4000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chemeClr val="bg1"/>
                </a:solidFill>
              </a:rPr>
              <a:t>Image: </a:t>
            </a:r>
            <a:r>
              <a:rPr lang="en-US" sz="800" i="1" dirty="0" err="1">
                <a:solidFill>
                  <a:schemeClr val="bg1"/>
                </a:solidFill>
              </a:rPr>
              <a:t>Pixabay</a:t>
            </a:r>
            <a:endParaRPr lang="en-FI" sz="800" i="1" dirty="0">
              <a:solidFill>
                <a:schemeClr val="bg1"/>
              </a:solidFill>
            </a:endParaRPr>
          </a:p>
        </p:txBody>
      </p:sp>
      <p:sp>
        <p:nvSpPr>
          <p:cNvPr id="11" name="Tekstiruutu 10">
            <a:extLst>
              <a:ext uri="{FF2B5EF4-FFF2-40B4-BE49-F238E27FC236}">
                <a16:creationId xmlns:a16="http://schemas.microsoft.com/office/drawing/2014/main" id="{589DB002-FCD9-CFC1-A69F-0356C609F332}"/>
              </a:ext>
            </a:extLst>
          </p:cNvPr>
          <p:cNvSpPr txBox="1"/>
          <p:nvPr/>
        </p:nvSpPr>
        <p:spPr>
          <a:xfrm>
            <a:off x="333264" y="5444360"/>
            <a:ext cx="44805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chemeClr val="tx2"/>
                </a:solidFill>
              </a:rPr>
              <a:t>Image: </a:t>
            </a:r>
            <a:r>
              <a:rPr lang="en-US" sz="800" i="1" dirty="0" err="1">
                <a:solidFill>
                  <a:schemeClr val="tx2"/>
                </a:solidFill>
              </a:rPr>
              <a:t>Pixabay</a:t>
            </a:r>
            <a:endParaRPr lang="en-FI" sz="800" i="1" dirty="0">
              <a:solidFill>
                <a:schemeClr val="tx2"/>
              </a:solidFill>
            </a:endParaRPr>
          </a:p>
        </p:txBody>
      </p:sp>
      <p:pic>
        <p:nvPicPr>
          <p:cNvPr id="13" name="Kuvan paikkamerkki 12">
            <a:extLst>
              <a:ext uri="{FF2B5EF4-FFF2-40B4-BE49-F238E27FC236}">
                <a16:creationId xmlns:a16="http://schemas.microsoft.com/office/drawing/2014/main" id="{B281BE30-FA8D-C369-D6F4-E2FE23A394A1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4581" r="4581"/>
          <a:stretch>
            <a:fillRect/>
          </a:stretch>
        </p:blipFill>
        <p:spPr/>
      </p:pic>
      <p:sp>
        <p:nvSpPr>
          <p:cNvPr id="14" name="Tekstiruutu 13">
            <a:extLst>
              <a:ext uri="{FF2B5EF4-FFF2-40B4-BE49-F238E27FC236}">
                <a16:creationId xmlns:a16="http://schemas.microsoft.com/office/drawing/2014/main" id="{63FC14F9-C906-4998-6A5D-39684B7E0690}"/>
              </a:ext>
            </a:extLst>
          </p:cNvPr>
          <p:cNvSpPr txBox="1"/>
          <p:nvPr/>
        </p:nvSpPr>
        <p:spPr>
          <a:xfrm>
            <a:off x="0" y="5666154"/>
            <a:ext cx="4000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chemeClr val="tx2"/>
                </a:solidFill>
              </a:rPr>
              <a:t>Image from </a:t>
            </a:r>
            <a:r>
              <a:rPr lang="en-US" sz="800" i="1" dirty="0" err="1">
                <a:solidFill>
                  <a:schemeClr val="tx2"/>
                </a:solidFill>
              </a:rPr>
              <a:t>Pixabay</a:t>
            </a:r>
            <a:endParaRPr lang="en-FI" sz="800" i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7838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7EC8F-7822-9D9C-A5F0-C1092632B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sällön paikkamerkki 1">
            <a:extLst>
              <a:ext uri="{FF2B5EF4-FFF2-40B4-BE49-F238E27FC236}">
                <a16:creationId xmlns:a16="http://schemas.microsoft.com/office/drawing/2014/main" id="{62C9C1A4-FF6D-B7E2-52FF-61FF1D405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6168" y="1618971"/>
            <a:ext cx="5780741" cy="499370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Programs in Python consist of one or more </a:t>
            </a:r>
            <a:r>
              <a:rPr lang="en-US" sz="2000" b="1" dirty="0"/>
              <a:t>statements</a:t>
            </a:r>
            <a:r>
              <a:rPr lang="en-US" sz="2000" dirty="0"/>
              <a:t>.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dirty="0"/>
              <a:t>Python interpreter executes each statement in order until there are no more statements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Flow control </a:t>
            </a:r>
            <a:r>
              <a:rPr lang="en-US" sz="2000" dirty="0"/>
              <a:t>= Power to control what statements are executed and how many times!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dirty="0"/>
              <a:t>Main types: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Conditional statements (</a:t>
            </a:r>
            <a:r>
              <a:rPr lang="en-US" sz="2000" dirty="0" err="1"/>
              <a:t>if..else</a:t>
            </a:r>
            <a:r>
              <a:rPr lang="en-US" sz="2000" dirty="0"/>
              <a:t>)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Loops (for, while)</a:t>
            </a:r>
          </a:p>
          <a:p>
            <a:pPr lvl="1" indent="0">
              <a:buNone/>
            </a:pPr>
            <a:r>
              <a:rPr lang="en-US" sz="2000" dirty="0"/>
              <a:t>-&gt; </a:t>
            </a:r>
            <a:r>
              <a:rPr lang="en-US" sz="2000" b="1" dirty="0"/>
              <a:t>Examples</a:t>
            </a:r>
          </a:p>
        </p:txBody>
      </p:sp>
      <p:sp>
        <p:nvSpPr>
          <p:cNvPr id="4" name="Tekstiruutu 3">
            <a:extLst>
              <a:ext uri="{FF2B5EF4-FFF2-40B4-BE49-F238E27FC236}">
                <a16:creationId xmlns:a16="http://schemas.microsoft.com/office/drawing/2014/main" id="{E1C2DCA9-EB7B-B68E-CA07-A353CD795E73}"/>
              </a:ext>
            </a:extLst>
          </p:cNvPr>
          <p:cNvSpPr txBox="1"/>
          <p:nvPr/>
        </p:nvSpPr>
        <p:spPr>
          <a:xfrm>
            <a:off x="5796168" y="544790"/>
            <a:ext cx="5780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/>
                </a:solidFill>
              </a:rPr>
              <a:t>3. Flow Control</a:t>
            </a:r>
            <a:endParaRPr lang="en-FI" sz="2800" b="1" dirty="0">
              <a:solidFill>
                <a:schemeClr val="tx2"/>
              </a:solidFill>
            </a:endParaRPr>
          </a:p>
        </p:txBody>
      </p:sp>
      <p:sp>
        <p:nvSpPr>
          <p:cNvPr id="3" name="Tekstiruutu 2">
            <a:extLst>
              <a:ext uri="{FF2B5EF4-FFF2-40B4-BE49-F238E27FC236}">
                <a16:creationId xmlns:a16="http://schemas.microsoft.com/office/drawing/2014/main" id="{A4D43A59-C800-6F5F-C5B1-33C641581EF1}"/>
              </a:ext>
            </a:extLst>
          </p:cNvPr>
          <p:cNvSpPr txBox="1"/>
          <p:nvPr/>
        </p:nvSpPr>
        <p:spPr>
          <a:xfrm>
            <a:off x="0" y="5428972"/>
            <a:ext cx="223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Image source: </a:t>
            </a:r>
            <a:r>
              <a:rPr lang="en-US" sz="900" dirty="0" err="1"/>
              <a:t>Pixabay</a:t>
            </a:r>
            <a:endParaRPr lang="en-FI" sz="900" dirty="0"/>
          </a:p>
        </p:txBody>
      </p:sp>
      <p:sp>
        <p:nvSpPr>
          <p:cNvPr id="9" name="Tekstiruutu 8">
            <a:extLst>
              <a:ext uri="{FF2B5EF4-FFF2-40B4-BE49-F238E27FC236}">
                <a16:creationId xmlns:a16="http://schemas.microsoft.com/office/drawing/2014/main" id="{0A85CBB8-5DC3-E908-3217-4CF48F48013D}"/>
              </a:ext>
            </a:extLst>
          </p:cNvPr>
          <p:cNvSpPr txBox="1"/>
          <p:nvPr/>
        </p:nvSpPr>
        <p:spPr>
          <a:xfrm>
            <a:off x="0" y="5450710"/>
            <a:ext cx="4000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chemeClr val="bg1"/>
                </a:solidFill>
              </a:rPr>
              <a:t>Image: </a:t>
            </a:r>
            <a:r>
              <a:rPr lang="en-US" sz="800" i="1" dirty="0" err="1">
                <a:solidFill>
                  <a:schemeClr val="bg1"/>
                </a:solidFill>
              </a:rPr>
              <a:t>Pixabay</a:t>
            </a:r>
            <a:endParaRPr lang="en-FI" sz="800" i="1" dirty="0">
              <a:solidFill>
                <a:schemeClr val="bg1"/>
              </a:solidFill>
            </a:endParaRPr>
          </a:p>
        </p:txBody>
      </p:sp>
      <p:sp>
        <p:nvSpPr>
          <p:cNvPr id="11" name="Tekstiruutu 10">
            <a:extLst>
              <a:ext uri="{FF2B5EF4-FFF2-40B4-BE49-F238E27FC236}">
                <a16:creationId xmlns:a16="http://schemas.microsoft.com/office/drawing/2014/main" id="{3B5FB440-CB9C-652D-CEAD-7C2B1FF91251}"/>
              </a:ext>
            </a:extLst>
          </p:cNvPr>
          <p:cNvSpPr txBox="1"/>
          <p:nvPr/>
        </p:nvSpPr>
        <p:spPr>
          <a:xfrm>
            <a:off x="333264" y="5444360"/>
            <a:ext cx="44805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chemeClr val="tx2"/>
                </a:solidFill>
              </a:rPr>
              <a:t>Image: </a:t>
            </a:r>
            <a:r>
              <a:rPr lang="en-US" sz="800" i="1" dirty="0" err="1">
                <a:solidFill>
                  <a:schemeClr val="tx2"/>
                </a:solidFill>
              </a:rPr>
              <a:t>Pixabay</a:t>
            </a:r>
            <a:endParaRPr lang="en-FI" sz="800" i="1" dirty="0">
              <a:solidFill>
                <a:schemeClr val="tx2"/>
              </a:solidFill>
            </a:endParaRPr>
          </a:p>
        </p:txBody>
      </p:sp>
      <p:pic>
        <p:nvPicPr>
          <p:cNvPr id="13" name="Kuvan paikkamerkki 12">
            <a:extLst>
              <a:ext uri="{FF2B5EF4-FFF2-40B4-BE49-F238E27FC236}">
                <a16:creationId xmlns:a16="http://schemas.microsoft.com/office/drawing/2014/main" id="{64265711-5AD1-B5E2-3F49-1E52C07AF7BA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4581" r="4581"/>
          <a:stretch>
            <a:fillRect/>
          </a:stretch>
        </p:blipFill>
        <p:spPr/>
      </p:pic>
      <p:sp>
        <p:nvSpPr>
          <p:cNvPr id="14" name="Tekstiruutu 13">
            <a:extLst>
              <a:ext uri="{FF2B5EF4-FFF2-40B4-BE49-F238E27FC236}">
                <a16:creationId xmlns:a16="http://schemas.microsoft.com/office/drawing/2014/main" id="{A942EAB1-19DB-CE66-56D1-D73C7A147BDF}"/>
              </a:ext>
            </a:extLst>
          </p:cNvPr>
          <p:cNvSpPr txBox="1"/>
          <p:nvPr/>
        </p:nvSpPr>
        <p:spPr>
          <a:xfrm>
            <a:off x="0" y="5666154"/>
            <a:ext cx="4000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chemeClr val="tx2"/>
                </a:solidFill>
              </a:rPr>
              <a:t>Image from </a:t>
            </a:r>
            <a:r>
              <a:rPr lang="en-US" sz="800" i="1" dirty="0" err="1">
                <a:solidFill>
                  <a:schemeClr val="tx2"/>
                </a:solidFill>
              </a:rPr>
              <a:t>Pixabay</a:t>
            </a:r>
            <a:endParaRPr lang="en-FI" sz="800" i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9012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4BB4A-1B78-3DF4-A42E-121F36136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sällön paikkamerkki 1">
            <a:extLst>
              <a:ext uri="{FF2B5EF4-FFF2-40B4-BE49-F238E27FC236}">
                <a16:creationId xmlns:a16="http://schemas.microsoft.com/office/drawing/2014/main" id="{1CEBA59C-9AA0-B880-5EB3-7AC90EC6DC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6168" y="1384021"/>
            <a:ext cx="5780741" cy="4993701"/>
          </a:xfrm>
        </p:spPr>
        <p:txBody>
          <a:bodyPr/>
          <a:lstStyle/>
          <a:p>
            <a:endParaRPr lang="en-FI" sz="1600" dirty="0"/>
          </a:p>
          <a:p>
            <a:r>
              <a:rPr lang="en-US" sz="1800" dirty="0"/>
              <a:t>There are a lot of different kinds of operators in Python. 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Arithmetic</a:t>
            </a:r>
            <a:r>
              <a:rPr lang="en-US" sz="1600" dirty="0"/>
              <a:t>: To perform arithmetic calculations. + , - , * , /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Assignment</a:t>
            </a:r>
            <a:r>
              <a:rPr lang="en-US" sz="1600" dirty="0"/>
              <a:t>: To assign values to variables. = , += , -=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Comparison</a:t>
            </a:r>
            <a:r>
              <a:rPr lang="en-US" sz="1600" dirty="0"/>
              <a:t>: To compare values and return a True/False value. == , != , &lt; , &gt; , &lt;=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Logical</a:t>
            </a:r>
            <a:r>
              <a:rPr lang="en-US" sz="1600" dirty="0"/>
              <a:t>: To perform a Boolean calculation between two or more values and return a True/False value. Ex: and , or , not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Identity</a:t>
            </a:r>
            <a:r>
              <a:rPr lang="en-US" sz="1600" dirty="0"/>
              <a:t>: To check if two objects are actually the same object (and not two objects with same value).Ex: is , is not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Membership</a:t>
            </a:r>
            <a:r>
              <a:rPr lang="en-US" sz="1600" dirty="0"/>
              <a:t>: To check if a value is inside a sequence. Ex: in , not in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Bitwise</a:t>
            </a:r>
            <a:r>
              <a:rPr lang="en-US" sz="1600" dirty="0"/>
              <a:t>: To perform bit -level operations. Ex: &amp; , | , ^ , ~ , &lt;&lt; , &gt;&gt; </a:t>
            </a:r>
          </a:p>
        </p:txBody>
      </p:sp>
      <p:sp>
        <p:nvSpPr>
          <p:cNvPr id="4" name="Tekstiruutu 3">
            <a:extLst>
              <a:ext uri="{FF2B5EF4-FFF2-40B4-BE49-F238E27FC236}">
                <a16:creationId xmlns:a16="http://schemas.microsoft.com/office/drawing/2014/main" id="{8E1CFD9E-6AC7-68E3-BE77-50DD20A6BE52}"/>
              </a:ext>
            </a:extLst>
          </p:cNvPr>
          <p:cNvSpPr txBox="1"/>
          <p:nvPr/>
        </p:nvSpPr>
        <p:spPr>
          <a:xfrm>
            <a:off x="5796168" y="544790"/>
            <a:ext cx="5780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/>
                </a:solidFill>
              </a:rPr>
              <a:t>4. Operators</a:t>
            </a:r>
            <a:endParaRPr lang="en-FI" sz="2800" b="1" dirty="0">
              <a:solidFill>
                <a:schemeClr val="tx2"/>
              </a:solidFill>
            </a:endParaRPr>
          </a:p>
        </p:txBody>
      </p:sp>
      <p:sp>
        <p:nvSpPr>
          <p:cNvPr id="3" name="Tekstiruutu 2">
            <a:extLst>
              <a:ext uri="{FF2B5EF4-FFF2-40B4-BE49-F238E27FC236}">
                <a16:creationId xmlns:a16="http://schemas.microsoft.com/office/drawing/2014/main" id="{E3000854-213D-EFBE-CBF6-DB0A969D7341}"/>
              </a:ext>
            </a:extLst>
          </p:cNvPr>
          <p:cNvSpPr txBox="1"/>
          <p:nvPr/>
        </p:nvSpPr>
        <p:spPr>
          <a:xfrm>
            <a:off x="0" y="5428972"/>
            <a:ext cx="223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Image source: </a:t>
            </a:r>
            <a:r>
              <a:rPr lang="en-US" sz="900" dirty="0" err="1"/>
              <a:t>Pixabay</a:t>
            </a:r>
            <a:endParaRPr lang="en-FI" sz="900" dirty="0"/>
          </a:p>
        </p:txBody>
      </p:sp>
      <p:sp>
        <p:nvSpPr>
          <p:cNvPr id="9" name="Tekstiruutu 8">
            <a:extLst>
              <a:ext uri="{FF2B5EF4-FFF2-40B4-BE49-F238E27FC236}">
                <a16:creationId xmlns:a16="http://schemas.microsoft.com/office/drawing/2014/main" id="{86A37012-8F31-387F-AA31-B41F95F38035}"/>
              </a:ext>
            </a:extLst>
          </p:cNvPr>
          <p:cNvSpPr txBox="1"/>
          <p:nvPr/>
        </p:nvSpPr>
        <p:spPr>
          <a:xfrm>
            <a:off x="0" y="5450710"/>
            <a:ext cx="4000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chemeClr val="bg1"/>
                </a:solidFill>
              </a:rPr>
              <a:t>Image: </a:t>
            </a:r>
            <a:r>
              <a:rPr lang="en-US" sz="800" i="1" dirty="0" err="1">
                <a:solidFill>
                  <a:schemeClr val="bg1"/>
                </a:solidFill>
              </a:rPr>
              <a:t>Pixabay</a:t>
            </a:r>
            <a:endParaRPr lang="en-FI" sz="800" i="1" dirty="0">
              <a:solidFill>
                <a:schemeClr val="bg1"/>
              </a:solidFill>
            </a:endParaRPr>
          </a:p>
        </p:txBody>
      </p:sp>
      <p:sp>
        <p:nvSpPr>
          <p:cNvPr id="11" name="Tekstiruutu 10">
            <a:extLst>
              <a:ext uri="{FF2B5EF4-FFF2-40B4-BE49-F238E27FC236}">
                <a16:creationId xmlns:a16="http://schemas.microsoft.com/office/drawing/2014/main" id="{8DCB7A37-F6AD-09E3-5AD7-8E2B183E460C}"/>
              </a:ext>
            </a:extLst>
          </p:cNvPr>
          <p:cNvSpPr txBox="1"/>
          <p:nvPr/>
        </p:nvSpPr>
        <p:spPr>
          <a:xfrm>
            <a:off x="333264" y="5444360"/>
            <a:ext cx="44805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chemeClr val="tx2"/>
                </a:solidFill>
              </a:rPr>
              <a:t>Image: </a:t>
            </a:r>
            <a:r>
              <a:rPr lang="en-US" sz="800" i="1" dirty="0" err="1">
                <a:solidFill>
                  <a:schemeClr val="tx2"/>
                </a:solidFill>
              </a:rPr>
              <a:t>Pixabay</a:t>
            </a:r>
            <a:endParaRPr lang="en-FI" sz="800" i="1" dirty="0">
              <a:solidFill>
                <a:schemeClr val="tx2"/>
              </a:solidFill>
            </a:endParaRPr>
          </a:p>
        </p:txBody>
      </p:sp>
      <p:pic>
        <p:nvPicPr>
          <p:cNvPr id="13" name="Kuvan paikkamerkki 12">
            <a:extLst>
              <a:ext uri="{FF2B5EF4-FFF2-40B4-BE49-F238E27FC236}">
                <a16:creationId xmlns:a16="http://schemas.microsoft.com/office/drawing/2014/main" id="{9B2B113E-B8C5-98F9-192B-47EEE1E69200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4581" r="4581"/>
          <a:stretch>
            <a:fillRect/>
          </a:stretch>
        </p:blipFill>
        <p:spPr/>
      </p:pic>
      <p:sp>
        <p:nvSpPr>
          <p:cNvPr id="14" name="Tekstiruutu 13">
            <a:extLst>
              <a:ext uri="{FF2B5EF4-FFF2-40B4-BE49-F238E27FC236}">
                <a16:creationId xmlns:a16="http://schemas.microsoft.com/office/drawing/2014/main" id="{16575F79-51BE-405A-4CCD-285D70951AC2}"/>
              </a:ext>
            </a:extLst>
          </p:cNvPr>
          <p:cNvSpPr txBox="1"/>
          <p:nvPr/>
        </p:nvSpPr>
        <p:spPr>
          <a:xfrm>
            <a:off x="0" y="5666154"/>
            <a:ext cx="4000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chemeClr val="tx2"/>
                </a:solidFill>
              </a:rPr>
              <a:t>Image from </a:t>
            </a:r>
            <a:r>
              <a:rPr lang="en-US" sz="800" i="1" dirty="0" err="1">
                <a:solidFill>
                  <a:schemeClr val="tx2"/>
                </a:solidFill>
              </a:rPr>
              <a:t>Pixabay</a:t>
            </a:r>
            <a:endParaRPr lang="en-FI" sz="800" i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0652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97ECB-5C39-A2FC-E66D-B0334CFDC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sällön paikkamerkki 1">
            <a:extLst>
              <a:ext uri="{FF2B5EF4-FFF2-40B4-BE49-F238E27FC236}">
                <a16:creationId xmlns:a16="http://schemas.microsoft.com/office/drawing/2014/main" id="{60D05E6F-91E2-D7E6-D9F3-6BB07B199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6168" y="1384021"/>
            <a:ext cx="5780741" cy="4993701"/>
          </a:xfrm>
        </p:spPr>
        <p:txBody>
          <a:bodyPr/>
          <a:lstStyle/>
          <a:p>
            <a:endParaRPr lang="en-FI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Blocks of code that can be reused and help to make the code more readable and understandable!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Functions are a basic tool in </a:t>
            </a:r>
            <a:r>
              <a:rPr lang="en-US" sz="2000" b="1" dirty="0"/>
              <a:t>any programming task</a:t>
            </a:r>
            <a:r>
              <a:rPr lang="en-US" sz="2000" dirty="0"/>
              <a:t> and coders should know how to use them (including parameter handling) and benefit from them.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-&gt; </a:t>
            </a:r>
            <a:r>
              <a:rPr lang="en-US" sz="2000" b="1" dirty="0"/>
              <a:t>Example</a:t>
            </a:r>
          </a:p>
        </p:txBody>
      </p:sp>
      <p:sp>
        <p:nvSpPr>
          <p:cNvPr id="4" name="Tekstiruutu 3">
            <a:extLst>
              <a:ext uri="{FF2B5EF4-FFF2-40B4-BE49-F238E27FC236}">
                <a16:creationId xmlns:a16="http://schemas.microsoft.com/office/drawing/2014/main" id="{3AE7A1AE-8D8F-3AA0-6C17-B4A19A2F31DC}"/>
              </a:ext>
            </a:extLst>
          </p:cNvPr>
          <p:cNvSpPr txBox="1"/>
          <p:nvPr/>
        </p:nvSpPr>
        <p:spPr>
          <a:xfrm>
            <a:off x="5796168" y="544790"/>
            <a:ext cx="5780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/>
                </a:solidFill>
              </a:rPr>
              <a:t>5. Functions</a:t>
            </a:r>
            <a:endParaRPr lang="en-FI" sz="2800" b="1" dirty="0">
              <a:solidFill>
                <a:schemeClr val="tx2"/>
              </a:solidFill>
            </a:endParaRPr>
          </a:p>
        </p:txBody>
      </p:sp>
      <p:sp>
        <p:nvSpPr>
          <p:cNvPr id="3" name="Tekstiruutu 2">
            <a:extLst>
              <a:ext uri="{FF2B5EF4-FFF2-40B4-BE49-F238E27FC236}">
                <a16:creationId xmlns:a16="http://schemas.microsoft.com/office/drawing/2014/main" id="{6780E55C-4332-C6C0-D0E6-E3B1849172FE}"/>
              </a:ext>
            </a:extLst>
          </p:cNvPr>
          <p:cNvSpPr txBox="1"/>
          <p:nvPr/>
        </p:nvSpPr>
        <p:spPr>
          <a:xfrm>
            <a:off x="0" y="5428972"/>
            <a:ext cx="223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Image source: </a:t>
            </a:r>
            <a:r>
              <a:rPr lang="en-US" sz="900" dirty="0" err="1"/>
              <a:t>Pixabay</a:t>
            </a:r>
            <a:endParaRPr lang="en-FI" sz="900" dirty="0"/>
          </a:p>
        </p:txBody>
      </p:sp>
      <p:sp>
        <p:nvSpPr>
          <p:cNvPr id="9" name="Tekstiruutu 8">
            <a:extLst>
              <a:ext uri="{FF2B5EF4-FFF2-40B4-BE49-F238E27FC236}">
                <a16:creationId xmlns:a16="http://schemas.microsoft.com/office/drawing/2014/main" id="{E06A73D7-0BB4-E751-BA65-0F46F5F900E3}"/>
              </a:ext>
            </a:extLst>
          </p:cNvPr>
          <p:cNvSpPr txBox="1"/>
          <p:nvPr/>
        </p:nvSpPr>
        <p:spPr>
          <a:xfrm>
            <a:off x="0" y="5450710"/>
            <a:ext cx="4000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chemeClr val="bg1"/>
                </a:solidFill>
              </a:rPr>
              <a:t>Image: </a:t>
            </a:r>
            <a:r>
              <a:rPr lang="en-US" sz="800" i="1" dirty="0" err="1">
                <a:solidFill>
                  <a:schemeClr val="bg1"/>
                </a:solidFill>
              </a:rPr>
              <a:t>Pixabay</a:t>
            </a:r>
            <a:endParaRPr lang="en-FI" sz="800" i="1" dirty="0">
              <a:solidFill>
                <a:schemeClr val="bg1"/>
              </a:solidFill>
            </a:endParaRPr>
          </a:p>
        </p:txBody>
      </p:sp>
      <p:sp>
        <p:nvSpPr>
          <p:cNvPr id="11" name="Tekstiruutu 10">
            <a:extLst>
              <a:ext uri="{FF2B5EF4-FFF2-40B4-BE49-F238E27FC236}">
                <a16:creationId xmlns:a16="http://schemas.microsoft.com/office/drawing/2014/main" id="{07A49CC7-1BFD-75F6-6B31-C849B33407FA}"/>
              </a:ext>
            </a:extLst>
          </p:cNvPr>
          <p:cNvSpPr txBox="1"/>
          <p:nvPr/>
        </p:nvSpPr>
        <p:spPr>
          <a:xfrm>
            <a:off x="333264" y="5444360"/>
            <a:ext cx="44805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chemeClr val="tx2"/>
                </a:solidFill>
              </a:rPr>
              <a:t>Image: </a:t>
            </a:r>
            <a:r>
              <a:rPr lang="en-US" sz="800" i="1" dirty="0" err="1">
                <a:solidFill>
                  <a:schemeClr val="tx2"/>
                </a:solidFill>
              </a:rPr>
              <a:t>Pixabay</a:t>
            </a:r>
            <a:endParaRPr lang="en-FI" sz="800" i="1" dirty="0">
              <a:solidFill>
                <a:schemeClr val="tx2"/>
              </a:solidFill>
            </a:endParaRPr>
          </a:p>
        </p:txBody>
      </p:sp>
      <p:pic>
        <p:nvPicPr>
          <p:cNvPr id="13" name="Kuvan paikkamerkki 12">
            <a:extLst>
              <a:ext uri="{FF2B5EF4-FFF2-40B4-BE49-F238E27FC236}">
                <a16:creationId xmlns:a16="http://schemas.microsoft.com/office/drawing/2014/main" id="{AEDEB11B-9B44-B700-9C95-0176C74B2038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4581" r="4581"/>
          <a:stretch>
            <a:fillRect/>
          </a:stretch>
        </p:blipFill>
        <p:spPr/>
      </p:pic>
      <p:sp>
        <p:nvSpPr>
          <p:cNvPr id="14" name="Tekstiruutu 13">
            <a:extLst>
              <a:ext uri="{FF2B5EF4-FFF2-40B4-BE49-F238E27FC236}">
                <a16:creationId xmlns:a16="http://schemas.microsoft.com/office/drawing/2014/main" id="{A937B554-38EB-083D-2253-86FB21D4387A}"/>
              </a:ext>
            </a:extLst>
          </p:cNvPr>
          <p:cNvSpPr txBox="1"/>
          <p:nvPr/>
        </p:nvSpPr>
        <p:spPr>
          <a:xfrm>
            <a:off x="0" y="5666154"/>
            <a:ext cx="4000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chemeClr val="tx2"/>
                </a:solidFill>
              </a:rPr>
              <a:t>Image from </a:t>
            </a:r>
            <a:r>
              <a:rPr lang="en-US" sz="800" i="1" dirty="0" err="1">
                <a:solidFill>
                  <a:schemeClr val="tx2"/>
                </a:solidFill>
              </a:rPr>
              <a:t>Pixabay</a:t>
            </a:r>
            <a:endParaRPr lang="en-FI" sz="800" i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545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E383F-40B9-10A2-0092-7FEC7D046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sällön paikkamerkki 1">
            <a:extLst>
              <a:ext uri="{FF2B5EF4-FFF2-40B4-BE49-F238E27FC236}">
                <a16:creationId xmlns:a16="http://schemas.microsoft.com/office/drawing/2014/main" id="{83AA23DC-C917-F7C3-29BA-1236B7F059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6168" y="1384021"/>
            <a:ext cx="5780741" cy="4993701"/>
          </a:xfrm>
        </p:spPr>
        <p:txBody>
          <a:bodyPr/>
          <a:lstStyle/>
          <a:p>
            <a:endParaRPr lang="en-FI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i-FI" dirty="0"/>
              <a:t>Object </a:t>
            </a:r>
            <a:r>
              <a:rPr lang="fi-FI" dirty="0" err="1"/>
              <a:t>oriented</a:t>
            </a:r>
            <a:r>
              <a:rPr lang="fi-FI" dirty="0"/>
              <a:t> </a:t>
            </a:r>
            <a:r>
              <a:rPr lang="fi-FI" dirty="0" err="1"/>
              <a:t>programming</a:t>
            </a:r>
            <a:r>
              <a:rPr lang="fi-FI" dirty="0"/>
              <a:t> (OOP)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A class </a:t>
            </a:r>
            <a:r>
              <a:rPr lang="en-US" dirty="0"/>
              <a:t>is (in theory) an abstract way </a:t>
            </a:r>
            <a:r>
              <a:rPr lang="en-US" dirty="0" err="1"/>
              <a:t>ofdefining</a:t>
            </a:r>
            <a:r>
              <a:rPr lang="en-US" dirty="0"/>
              <a:t> some properties and functionalities of some "thing" or object.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An object </a:t>
            </a:r>
            <a:r>
              <a:rPr lang="en-US" dirty="0"/>
              <a:t>is an instance of a class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-&gt; </a:t>
            </a:r>
            <a:r>
              <a:rPr lang="en-US" b="1" dirty="0"/>
              <a:t>Example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Good to know: Inheritance, the so-called magic methods, private variables and class vs </a:t>
            </a:r>
            <a:r>
              <a:rPr lang="en-US" sz="2000" dirty="0" err="1"/>
              <a:t>objectproperties</a:t>
            </a:r>
            <a:r>
              <a:rPr lang="en-US" sz="2000" dirty="0"/>
              <a:t>/variables</a:t>
            </a:r>
            <a:endParaRPr lang="en-US" sz="2000" b="1" dirty="0"/>
          </a:p>
        </p:txBody>
      </p:sp>
      <p:sp>
        <p:nvSpPr>
          <p:cNvPr id="4" name="Tekstiruutu 3">
            <a:extLst>
              <a:ext uri="{FF2B5EF4-FFF2-40B4-BE49-F238E27FC236}">
                <a16:creationId xmlns:a16="http://schemas.microsoft.com/office/drawing/2014/main" id="{1B653AB5-6400-CE60-F0FC-67FC21DEF14F}"/>
              </a:ext>
            </a:extLst>
          </p:cNvPr>
          <p:cNvSpPr txBox="1"/>
          <p:nvPr/>
        </p:nvSpPr>
        <p:spPr>
          <a:xfrm>
            <a:off x="5796168" y="544790"/>
            <a:ext cx="5780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/>
                </a:solidFill>
              </a:rPr>
              <a:t>6. Objects and Classes</a:t>
            </a:r>
            <a:endParaRPr lang="en-FI" sz="2800" b="1" dirty="0">
              <a:solidFill>
                <a:schemeClr val="tx2"/>
              </a:solidFill>
            </a:endParaRPr>
          </a:p>
        </p:txBody>
      </p:sp>
      <p:sp>
        <p:nvSpPr>
          <p:cNvPr id="3" name="Tekstiruutu 2">
            <a:extLst>
              <a:ext uri="{FF2B5EF4-FFF2-40B4-BE49-F238E27FC236}">
                <a16:creationId xmlns:a16="http://schemas.microsoft.com/office/drawing/2014/main" id="{E982AD37-1C3B-40DC-3866-0BF34BDEE993}"/>
              </a:ext>
            </a:extLst>
          </p:cNvPr>
          <p:cNvSpPr txBox="1"/>
          <p:nvPr/>
        </p:nvSpPr>
        <p:spPr>
          <a:xfrm>
            <a:off x="0" y="5428972"/>
            <a:ext cx="223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Image source: </a:t>
            </a:r>
            <a:r>
              <a:rPr lang="en-US" sz="900" dirty="0" err="1"/>
              <a:t>Pixabay</a:t>
            </a:r>
            <a:endParaRPr lang="en-FI" sz="900" dirty="0"/>
          </a:p>
        </p:txBody>
      </p:sp>
      <p:sp>
        <p:nvSpPr>
          <p:cNvPr id="9" name="Tekstiruutu 8">
            <a:extLst>
              <a:ext uri="{FF2B5EF4-FFF2-40B4-BE49-F238E27FC236}">
                <a16:creationId xmlns:a16="http://schemas.microsoft.com/office/drawing/2014/main" id="{ABC19DB1-0891-B563-8741-FA7F4E888A98}"/>
              </a:ext>
            </a:extLst>
          </p:cNvPr>
          <p:cNvSpPr txBox="1"/>
          <p:nvPr/>
        </p:nvSpPr>
        <p:spPr>
          <a:xfrm>
            <a:off x="0" y="5450710"/>
            <a:ext cx="4000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chemeClr val="bg1"/>
                </a:solidFill>
              </a:rPr>
              <a:t>Image: </a:t>
            </a:r>
            <a:r>
              <a:rPr lang="en-US" sz="800" i="1" dirty="0" err="1">
                <a:solidFill>
                  <a:schemeClr val="bg1"/>
                </a:solidFill>
              </a:rPr>
              <a:t>Pixabay</a:t>
            </a:r>
            <a:endParaRPr lang="en-FI" sz="800" i="1" dirty="0">
              <a:solidFill>
                <a:schemeClr val="bg1"/>
              </a:solidFill>
            </a:endParaRPr>
          </a:p>
        </p:txBody>
      </p:sp>
      <p:sp>
        <p:nvSpPr>
          <p:cNvPr id="11" name="Tekstiruutu 10">
            <a:extLst>
              <a:ext uri="{FF2B5EF4-FFF2-40B4-BE49-F238E27FC236}">
                <a16:creationId xmlns:a16="http://schemas.microsoft.com/office/drawing/2014/main" id="{47F56EB0-F7FB-8905-45D3-18CAB8A57DCD}"/>
              </a:ext>
            </a:extLst>
          </p:cNvPr>
          <p:cNvSpPr txBox="1"/>
          <p:nvPr/>
        </p:nvSpPr>
        <p:spPr>
          <a:xfrm>
            <a:off x="333264" y="5444360"/>
            <a:ext cx="44805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chemeClr val="tx2"/>
                </a:solidFill>
              </a:rPr>
              <a:t>Image: </a:t>
            </a:r>
            <a:r>
              <a:rPr lang="en-US" sz="800" i="1" dirty="0" err="1">
                <a:solidFill>
                  <a:schemeClr val="tx2"/>
                </a:solidFill>
              </a:rPr>
              <a:t>Pixabay</a:t>
            </a:r>
            <a:endParaRPr lang="en-FI" sz="800" i="1" dirty="0">
              <a:solidFill>
                <a:schemeClr val="tx2"/>
              </a:solidFill>
            </a:endParaRPr>
          </a:p>
        </p:txBody>
      </p:sp>
      <p:pic>
        <p:nvPicPr>
          <p:cNvPr id="13" name="Kuvan paikkamerkki 12">
            <a:extLst>
              <a:ext uri="{FF2B5EF4-FFF2-40B4-BE49-F238E27FC236}">
                <a16:creationId xmlns:a16="http://schemas.microsoft.com/office/drawing/2014/main" id="{4D40BED6-3A40-F2EA-2CBE-CB0FC7254634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4581" r="4581"/>
          <a:stretch>
            <a:fillRect/>
          </a:stretch>
        </p:blipFill>
        <p:spPr/>
      </p:pic>
      <p:sp>
        <p:nvSpPr>
          <p:cNvPr id="14" name="Tekstiruutu 13">
            <a:extLst>
              <a:ext uri="{FF2B5EF4-FFF2-40B4-BE49-F238E27FC236}">
                <a16:creationId xmlns:a16="http://schemas.microsoft.com/office/drawing/2014/main" id="{CAC2CBA8-5D01-1808-F700-216BE3A89E23}"/>
              </a:ext>
            </a:extLst>
          </p:cNvPr>
          <p:cNvSpPr txBox="1"/>
          <p:nvPr/>
        </p:nvSpPr>
        <p:spPr>
          <a:xfrm>
            <a:off x="0" y="5666154"/>
            <a:ext cx="4000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chemeClr val="tx2"/>
                </a:solidFill>
              </a:rPr>
              <a:t>Image from </a:t>
            </a:r>
            <a:r>
              <a:rPr lang="en-US" sz="800" i="1" dirty="0" err="1">
                <a:solidFill>
                  <a:schemeClr val="tx2"/>
                </a:solidFill>
              </a:rPr>
              <a:t>Pixabay</a:t>
            </a:r>
            <a:endParaRPr lang="en-FI" sz="800" i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3058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07D20-01E8-15E0-044A-8C42F0162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sällön paikkamerkki 1">
            <a:extLst>
              <a:ext uri="{FF2B5EF4-FFF2-40B4-BE49-F238E27FC236}">
                <a16:creationId xmlns:a16="http://schemas.microsoft.com/office/drawing/2014/main" id="{EF01FAAD-881C-9946-624E-93C4A3E22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6168" y="1384021"/>
            <a:ext cx="5780741" cy="4993701"/>
          </a:xfrm>
        </p:spPr>
        <p:txBody>
          <a:bodyPr/>
          <a:lstStyle/>
          <a:p>
            <a:endParaRPr lang="en-FI" sz="1600" dirty="0"/>
          </a:p>
          <a:p>
            <a:r>
              <a:rPr lang="en-US" sz="1800" dirty="0"/>
              <a:t>Here is also a list of recommended topics that students should know at some degree to successfully complete this course: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sz="1800" dirty="0" err="1"/>
              <a:t>Comprehensions</a:t>
            </a:r>
            <a:endParaRPr lang="fi-FI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Main Python's data types methods:</a:t>
            </a:r>
          </a:p>
          <a:p>
            <a:pPr marL="914400" lvl="1" indent="-171450">
              <a:buFont typeface="Arial" panose="020B0604020202020204" pitchFamily="34" charset="0"/>
              <a:buChar char="•"/>
            </a:pPr>
            <a:r>
              <a:rPr lang="fi-FI" sz="1400" dirty="0" err="1"/>
              <a:t>String</a:t>
            </a:r>
            <a:r>
              <a:rPr lang="fi-FI" sz="1400" dirty="0"/>
              <a:t> </a:t>
            </a:r>
            <a:r>
              <a:rPr lang="fi-FI" sz="1400" dirty="0" err="1"/>
              <a:t>methods</a:t>
            </a:r>
            <a:r>
              <a:rPr lang="fi-FI" sz="1400" dirty="0"/>
              <a:t>: join, </a:t>
            </a:r>
            <a:r>
              <a:rPr lang="fi-FI" sz="1400" dirty="0" err="1"/>
              <a:t>split</a:t>
            </a:r>
            <a:r>
              <a:rPr lang="fi-FI" sz="1400" dirty="0"/>
              <a:t>, </a:t>
            </a:r>
            <a:r>
              <a:rPr lang="fi-FI" sz="1400" dirty="0" err="1"/>
              <a:t>lower</a:t>
            </a:r>
            <a:r>
              <a:rPr lang="fi-FI" sz="1400" dirty="0"/>
              <a:t>, </a:t>
            </a:r>
            <a:r>
              <a:rPr lang="fi-FI" sz="1400" dirty="0" err="1"/>
              <a:t>upper</a:t>
            </a:r>
            <a:r>
              <a:rPr lang="fi-FI" sz="1400" dirty="0"/>
              <a:t>, </a:t>
            </a:r>
            <a:r>
              <a:rPr lang="fi-FI" sz="1400" dirty="0" err="1"/>
              <a:t>replace</a:t>
            </a:r>
            <a:r>
              <a:rPr lang="fi-FI" sz="1400" dirty="0"/>
              <a:t>, ...</a:t>
            </a:r>
          </a:p>
          <a:p>
            <a:pPr marL="914400" lvl="1" indent="-171450">
              <a:buFont typeface="Arial" panose="020B0604020202020204" pitchFamily="34" charset="0"/>
              <a:buChar char="•"/>
            </a:pPr>
            <a:r>
              <a:rPr lang="fi-FI" sz="1400" dirty="0" err="1"/>
              <a:t>List</a:t>
            </a:r>
            <a:r>
              <a:rPr lang="fi-FI" sz="1400" dirty="0"/>
              <a:t> </a:t>
            </a:r>
            <a:r>
              <a:rPr lang="fi-FI" sz="1400" dirty="0" err="1"/>
              <a:t>methods</a:t>
            </a:r>
            <a:r>
              <a:rPr lang="fi-FI" sz="1400" dirty="0"/>
              <a:t>: </a:t>
            </a:r>
            <a:r>
              <a:rPr lang="fi-FI" sz="1400" dirty="0" err="1"/>
              <a:t>append,insert,pop,remove,reverse,sort</a:t>
            </a:r>
            <a:r>
              <a:rPr lang="fi-FI" sz="1400" dirty="0"/>
              <a:t>, ...</a:t>
            </a:r>
          </a:p>
          <a:p>
            <a:pPr marL="914400" lvl="1" indent="-171450">
              <a:buFont typeface="Arial" panose="020B0604020202020204" pitchFamily="34" charset="0"/>
              <a:buChar char="•"/>
            </a:pPr>
            <a:r>
              <a:rPr lang="fi-FI" sz="1400" dirty="0"/>
              <a:t>And </a:t>
            </a:r>
            <a:r>
              <a:rPr lang="fi-FI" sz="1400" dirty="0" err="1"/>
              <a:t>so</a:t>
            </a:r>
            <a:r>
              <a:rPr lang="fi-FI" sz="1400" dirty="0"/>
              <a:t> on ...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i-FI" sz="1800" dirty="0" err="1"/>
              <a:t>Generators</a:t>
            </a:r>
            <a:endParaRPr lang="fi-FI" sz="1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i-FI" sz="1800" dirty="0"/>
              <a:t>Lambda </a:t>
            </a:r>
            <a:r>
              <a:rPr lang="fi-FI" sz="1800" dirty="0" err="1"/>
              <a:t>functions</a:t>
            </a:r>
            <a:endParaRPr lang="fi-FI" sz="1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i-FI" sz="1800" dirty="0" err="1"/>
              <a:t>Exception</a:t>
            </a:r>
            <a:r>
              <a:rPr lang="fi-FI" sz="1800" dirty="0"/>
              <a:t> </a:t>
            </a:r>
            <a:r>
              <a:rPr lang="fi-FI" sz="1800" dirty="0" err="1"/>
              <a:t>handling</a:t>
            </a:r>
            <a:endParaRPr lang="fi-FI" sz="1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i-FI" sz="1800" dirty="0" err="1"/>
              <a:t>regular</a:t>
            </a:r>
            <a:r>
              <a:rPr lang="fi-FI" sz="1800" dirty="0"/>
              <a:t> </a:t>
            </a:r>
            <a:r>
              <a:rPr lang="fi-FI" sz="1800" dirty="0" err="1"/>
              <a:t>expressions</a:t>
            </a:r>
            <a:endParaRPr lang="en-US" sz="1600" dirty="0"/>
          </a:p>
        </p:txBody>
      </p:sp>
      <p:sp>
        <p:nvSpPr>
          <p:cNvPr id="4" name="Tekstiruutu 3">
            <a:extLst>
              <a:ext uri="{FF2B5EF4-FFF2-40B4-BE49-F238E27FC236}">
                <a16:creationId xmlns:a16="http://schemas.microsoft.com/office/drawing/2014/main" id="{3E6AA071-C4BD-AC00-9720-EDE89C6C3B40}"/>
              </a:ext>
            </a:extLst>
          </p:cNvPr>
          <p:cNvSpPr txBox="1"/>
          <p:nvPr/>
        </p:nvSpPr>
        <p:spPr>
          <a:xfrm>
            <a:off x="5796168" y="544790"/>
            <a:ext cx="5780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/>
                </a:solidFill>
              </a:rPr>
              <a:t>7. Miscellaneous</a:t>
            </a:r>
            <a:endParaRPr lang="en-FI" sz="2800" b="1" dirty="0">
              <a:solidFill>
                <a:schemeClr val="tx2"/>
              </a:solidFill>
            </a:endParaRPr>
          </a:p>
        </p:txBody>
      </p:sp>
      <p:sp>
        <p:nvSpPr>
          <p:cNvPr id="3" name="Tekstiruutu 2">
            <a:extLst>
              <a:ext uri="{FF2B5EF4-FFF2-40B4-BE49-F238E27FC236}">
                <a16:creationId xmlns:a16="http://schemas.microsoft.com/office/drawing/2014/main" id="{2339DB6B-C35C-7929-AE03-CEDC13DE7737}"/>
              </a:ext>
            </a:extLst>
          </p:cNvPr>
          <p:cNvSpPr txBox="1"/>
          <p:nvPr/>
        </p:nvSpPr>
        <p:spPr>
          <a:xfrm>
            <a:off x="0" y="5428972"/>
            <a:ext cx="223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Image source: </a:t>
            </a:r>
            <a:r>
              <a:rPr lang="en-US" sz="900" dirty="0" err="1"/>
              <a:t>Pixabay</a:t>
            </a:r>
            <a:endParaRPr lang="en-FI" sz="900" dirty="0"/>
          </a:p>
        </p:txBody>
      </p:sp>
      <p:sp>
        <p:nvSpPr>
          <p:cNvPr id="9" name="Tekstiruutu 8">
            <a:extLst>
              <a:ext uri="{FF2B5EF4-FFF2-40B4-BE49-F238E27FC236}">
                <a16:creationId xmlns:a16="http://schemas.microsoft.com/office/drawing/2014/main" id="{63F93273-AAA8-4E12-45EA-EC54A6E4A3C1}"/>
              </a:ext>
            </a:extLst>
          </p:cNvPr>
          <p:cNvSpPr txBox="1"/>
          <p:nvPr/>
        </p:nvSpPr>
        <p:spPr>
          <a:xfrm>
            <a:off x="0" y="5450710"/>
            <a:ext cx="4000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chemeClr val="bg1"/>
                </a:solidFill>
              </a:rPr>
              <a:t>Image: </a:t>
            </a:r>
            <a:r>
              <a:rPr lang="en-US" sz="800" i="1" dirty="0" err="1">
                <a:solidFill>
                  <a:schemeClr val="bg1"/>
                </a:solidFill>
              </a:rPr>
              <a:t>Pixabay</a:t>
            </a:r>
            <a:endParaRPr lang="en-FI" sz="800" i="1" dirty="0">
              <a:solidFill>
                <a:schemeClr val="bg1"/>
              </a:solidFill>
            </a:endParaRPr>
          </a:p>
        </p:txBody>
      </p:sp>
      <p:sp>
        <p:nvSpPr>
          <p:cNvPr id="11" name="Tekstiruutu 10">
            <a:extLst>
              <a:ext uri="{FF2B5EF4-FFF2-40B4-BE49-F238E27FC236}">
                <a16:creationId xmlns:a16="http://schemas.microsoft.com/office/drawing/2014/main" id="{81CB5E0A-21C9-B47F-2CF6-43142ADA4135}"/>
              </a:ext>
            </a:extLst>
          </p:cNvPr>
          <p:cNvSpPr txBox="1"/>
          <p:nvPr/>
        </p:nvSpPr>
        <p:spPr>
          <a:xfrm>
            <a:off x="333264" y="5444360"/>
            <a:ext cx="44805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chemeClr val="tx2"/>
                </a:solidFill>
              </a:rPr>
              <a:t>Image: </a:t>
            </a:r>
            <a:r>
              <a:rPr lang="en-US" sz="800" i="1" dirty="0" err="1">
                <a:solidFill>
                  <a:schemeClr val="tx2"/>
                </a:solidFill>
              </a:rPr>
              <a:t>Pixabay</a:t>
            </a:r>
            <a:endParaRPr lang="en-FI" sz="800" i="1" dirty="0">
              <a:solidFill>
                <a:schemeClr val="tx2"/>
              </a:solidFill>
            </a:endParaRPr>
          </a:p>
        </p:txBody>
      </p:sp>
      <p:pic>
        <p:nvPicPr>
          <p:cNvPr id="13" name="Kuvan paikkamerkki 12">
            <a:extLst>
              <a:ext uri="{FF2B5EF4-FFF2-40B4-BE49-F238E27FC236}">
                <a16:creationId xmlns:a16="http://schemas.microsoft.com/office/drawing/2014/main" id="{95B462AE-8CDF-8413-6C3B-168E23F56A3B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4581" r="4581"/>
          <a:stretch>
            <a:fillRect/>
          </a:stretch>
        </p:blipFill>
        <p:spPr/>
      </p:pic>
      <p:sp>
        <p:nvSpPr>
          <p:cNvPr id="14" name="Tekstiruutu 13">
            <a:extLst>
              <a:ext uri="{FF2B5EF4-FFF2-40B4-BE49-F238E27FC236}">
                <a16:creationId xmlns:a16="http://schemas.microsoft.com/office/drawing/2014/main" id="{007BD072-BF2C-8F83-8599-CD06F04DFE74}"/>
              </a:ext>
            </a:extLst>
          </p:cNvPr>
          <p:cNvSpPr txBox="1"/>
          <p:nvPr/>
        </p:nvSpPr>
        <p:spPr>
          <a:xfrm>
            <a:off x="0" y="5666154"/>
            <a:ext cx="4000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chemeClr val="tx2"/>
                </a:solidFill>
              </a:rPr>
              <a:t>Image from </a:t>
            </a:r>
            <a:r>
              <a:rPr lang="en-US" sz="800" i="1" dirty="0" err="1">
                <a:solidFill>
                  <a:schemeClr val="tx2"/>
                </a:solidFill>
              </a:rPr>
              <a:t>Pixabay</a:t>
            </a:r>
            <a:endParaRPr lang="en-FI" sz="800" i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88097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67BE1-3F73-F1E2-7B1F-5B8F6A51E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5C739-F032-021A-E0F0-DB957E5EC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for exercises!</a:t>
            </a:r>
            <a:endParaRPr lang="en-FI" dirty="0"/>
          </a:p>
        </p:txBody>
      </p:sp>
      <p:sp>
        <p:nvSpPr>
          <p:cNvPr id="3" name="Tekstiruutu 2">
            <a:extLst>
              <a:ext uri="{FF2B5EF4-FFF2-40B4-BE49-F238E27FC236}">
                <a16:creationId xmlns:a16="http://schemas.microsoft.com/office/drawing/2014/main" id="{938C3F7F-9A4F-B791-323C-AEEFCAB7F921}"/>
              </a:ext>
            </a:extLst>
          </p:cNvPr>
          <p:cNvSpPr txBox="1"/>
          <p:nvPr/>
        </p:nvSpPr>
        <p:spPr>
          <a:xfrm>
            <a:off x="8723249" y="5544836"/>
            <a:ext cx="346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tino.kankkunen@metropolia.fi</a:t>
            </a:r>
            <a:endParaRPr lang="en-FI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5065843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a_webmaster">
  <a:themeElements>
    <a:clrScheme name="Metropolia_Webmaster">
      <a:dk1>
        <a:srgbClr val="FFFFFF"/>
      </a:dk1>
      <a:lt1>
        <a:srgbClr val="FFFFFF"/>
      </a:lt1>
      <a:dk2>
        <a:srgbClr val="53565A"/>
      </a:dk2>
      <a:lt2>
        <a:srgbClr val="53565A"/>
      </a:lt2>
      <a:accent1>
        <a:srgbClr val="FF5000"/>
      </a:accent1>
      <a:accent2>
        <a:srgbClr val="C2D500"/>
      </a:accent2>
      <a:accent3>
        <a:srgbClr val="00A0E1"/>
      </a:accent3>
      <a:accent4>
        <a:srgbClr val="E6007D"/>
      </a:accent4>
      <a:accent5>
        <a:srgbClr val="FFF000"/>
      </a:accent5>
      <a:accent6>
        <a:srgbClr val="FFFFFF"/>
      </a:accent6>
      <a:hlink>
        <a:srgbClr val="FF5000"/>
      </a:hlink>
      <a:folHlink>
        <a:srgbClr val="BC3A00"/>
      </a:folHlink>
    </a:clrScheme>
    <a:fontScheme name="Metropolia_webmaster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30" id="{6C10D4A0-BE87-C045-BD2D-C32C846522EC}" vid="{968EBCE1-44A0-8648-ACBB-F37263CC06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Metropolia_webmaster</Template>
  <TotalTime>4840</TotalTime>
  <Words>718</Words>
  <Application>Microsoft Office PowerPoint</Application>
  <PresentationFormat>Custom</PresentationFormat>
  <Paragraphs>114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Metropolia_webmaster</vt:lpstr>
      <vt:lpstr>CH1 Python Data Types &amp; Structures Summary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Time for exercises!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Sakari Malmberg</dc:creator>
  <cp:keywords/>
  <dc:description/>
  <cp:lastModifiedBy>Tino Kankkunen</cp:lastModifiedBy>
  <cp:revision>1280</cp:revision>
  <dcterms:created xsi:type="dcterms:W3CDTF">2024-05-03T06:20:06Z</dcterms:created>
  <dcterms:modified xsi:type="dcterms:W3CDTF">2026-01-13T10:57:06Z</dcterms:modified>
  <cp:category/>
</cp:coreProperties>
</file>