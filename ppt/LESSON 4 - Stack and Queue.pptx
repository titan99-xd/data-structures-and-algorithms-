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23"/>
  </p:notesMasterIdLst>
  <p:sldIdLst>
    <p:sldId id="256" r:id="rId2"/>
    <p:sldId id="376" r:id="rId3"/>
    <p:sldId id="390" r:id="rId4"/>
    <p:sldId id="405" r:id="rId5"/>
    <p:sldId id="406" r:id="rId6"/>
    <p:sldId id="407" r:id="rId7"/>
    <p:sldId id="408" r:id="rId8"/>
    <p:sldId id="410" r:id="rId9"/>
    <p:sldId id="411" r:id="rId10"/>
    <p:sldId id="413" r:id="rId11"/>
    <p:sldId id="415" r:id="rId12"/>
    <p:sldId id="412" r:id="rId13"/>
    <p:sldId id="416" r:id="rId14"/>
    <p:sldId id="417" r:id="rId15"/>
    <p:sldId id="418" r:id="rId16"/>
    <p:sldId id="419" r:id="rId17"/>
    <p:sldId id="420" r:id="rId18"/>
    <p:sldId id="421" r:id="rId19"/>
    <p:sldId id="422" r:id="rId20"/>
    <p:sldId id="423" r:id="rId21"/>
    <p:sldId id="338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111"/>
    <a:srgbClr val="FF5000"/>
    <a:srgbClr val="53565A"/>
    <a:srgbClr val="5A5A5A"/>
    <a:srgbClr val="E95D0F"/>
    <a:srgbClr val="00A0E1"/>
    <a:srgbClr val="FFF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 autoAdjust="0"/>
    <p:restoredTop sz="94857" autoAdjust="0"/>
  </p:normalViewPr>
  <p:slideViewPr>
    <p:cSldViewPr snapToGrid="0" snapToObjects="1">
      <p:cViewPr>
        <p:scale>
          <a:sx n="150" d="100"/>
          <a:sy n="150" d="100"/>
        </p:scale>
        <p:origin x="1452" y="138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A0C426-ABB5-484D-B716-1CF93F0C2624}" type="datetimeFigureOut">
              <a:rPr lang="en-FI" smtClean="0"/>
              <a:t>21/01/2026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027FC-488F-154D-812F-E7571538DDB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49664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87258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42EAB-71B0-6856-2F2E-85DBFE325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0E4F5-7DB1-BFC1-5DB6-3666E5E91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582BD-D8F7-769B-CA15-420056CD4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76466-17A0-B5AD-3D87-5ACF8D5A8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77118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1881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A1881-B346-B3FC-B202-F051C159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95021C7E-F0E4-8515-0C11-2825745BB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BB19EC5F-226A-4219-7F5D-BF14767C4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AB54785F-91F2-B3AA-4C25-566BB4818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8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54457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6B0D5-62A0-74F2-A553-6686ED698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7BB9DBAE-1229-F838-B249-F6B914D98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DB595166-0A80-B86B-002E-C2C3819F8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D782E95E-A611-4EC3-5810-28E33947F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9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54897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497CD-E6A5-F5CF-E75B-CA8D03E8A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B2877A6B-E309-19F3-8DB5-40DFEDA26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2C4B22B3-25CD-73A0-8DC4-F305C694A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CC35C558-60B0-1250-AE53-6D6C797F6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10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87570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6DC3A-F431-B787-FF2F-CB46BB9C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81B801DD-FE11-F022-F7ED-97B1E3DEA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4043F2F0-C0F3-7799-D0B1-13EA71A0E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E3B0EEE7-C4E0-560C-94C8-E3BC5CCB6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99589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CB963-D3B7-49CA-417D-746ADCF4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11952749-6666-506E-9301-8FC882DCD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3C6448D2-9D2E-457B-D5FA-6725B2C76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62F61017-787E-3D87-A7E1-2D33A0E3F9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26201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8B58D-4512-A901-A45B-2A039E9E1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EE168E50-6280-EA55-69FE-78B54E056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18B3B6E9-7627-EA0F-1E7B-17135034C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FFA61111-F0BA-EC16-6613-C3B489FE0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12670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83415-91FC-A582-5E0B-80FB54D5B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622C94BC-C134-F84B-810A-56BC566EA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99255467-4825-D6A8-B702-B74FF35ED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8F84265E-322E-1676-578C-8C3271101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65212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FFABA-07AC-42D5-7C7C-437E399E6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3658FEA7-CF88-89B8-7B59-FABC9FFD7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F0F08742-D55E-FA66-341C-41928F823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1342BF6A-524E-00EC-01C4-BCFCDF3EA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18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458148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FCAC9-8DF2-361D-70FA-C79C00827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05106951-48DC-E3BA-6BA5-56CDF9604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487576D9-7347-2E84-335E-00A2F5EA5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5E62985B-BEB4-C452-F1E6-47287E608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19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280417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7FFBB-7BF6-7F51-5997-56D7F7E8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E9098-1A13-170D-B2AC-53CEA9324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0E1B1-D724-437E-008D-A769339B4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A2BF4-D807-6527-C52D-8170F8EE6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21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7134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A12EC4-E081-5747-BC9C-6ED420CBB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79" y="0"/>
            <a:ext cx="12198748" cy="3165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12D5D5-8D69-4EE8-998A-AFCB860D5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79" y="0"/>
            <a:ext cx="12198748" cy="3165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CC5D4E-371B-D868-6ACE-FCD7CA4B68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98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3163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836A4C-B8F3-4A06-B45C-3490E7A0C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31635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AA9CAF-808D-B45D-DB7F-37FF800F5E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37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3F88AF-B055-4B9A-95B0-E2F7806A5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DCA138-7B9C-0DFD-09BC-4BF5D70AAE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074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DDF97-2893-1442-AC4B-CA4A313DF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BFD717-35FA-47B1-ACD5-5093B88F8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D18EF6-494E-74ED-7BC9-6C7CA1BA1D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92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316388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4468F9-53F1-07A1-B3D6-423D64292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792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707F-5A56-7E4C-BB06-31D0E29E7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699250" y="0"/>
            <a:ext cx="54895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86CB06-4BA3-A6DD-631E-FE12AE472B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11F5BD8-5755-4649-A5A9-D795BACA36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7632313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7632313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A71502-0770-BBAC-4D92-728A6CC8E4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39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2E91DB-40C0-2A45-B643-F8FAF408C3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1886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51886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4895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86A4E4-9D17-CC93-B793-511DB5A90E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2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47B53E-896C-8747-9BB8-4FDEA4D759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156" y="1891456"/>
            <a:ext cx="5580769" cy="1306408"/>
          </a:xfrm>
        </p:spPr>
        <p:txBody>
          <a:bodyPr/>
          <a:lstStyle>
            <a:lvl1pPr>
              <a:defRPr>
                <a:solidFill>
                  <a:srgbClr val="FF5000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51886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16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9354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C859D9-6DE1-4053-8C9B-5AE4BAFD2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9354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B91147-7A96-F9F1-1AF0-4AC6682D1C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52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6A93D4E-1CE0-7148-8EFC-D3906E47E6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9890" y="0"/>
            <a:ext cx="548893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00A127-6F0F-49BB-9F1B-5C900142E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9890" y="0"/>
            <a:ext cx="548893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581364-5D15-F8E5-E6C3-5CFF375C4E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086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75F1AB5-C4FC-764C-9CDD-A8C635A1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8840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4A44D8-D3F5-4744-8A4E-E1BD976D9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66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FE5224-1214-4F7A-A134-C9152647F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66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C60225-6889-DC7B-7F46-C280A0FA53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439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 with pictur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BA622C8-44FF-B641-87C8-0B3497E28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8840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1191846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5A20AB-EF22-4AA1-A51E-0B2C734ED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A742F9-5931-C31A-CA8E-8FF1C80216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23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pictur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96169" y="609602"/>
            <a:ext cx="5780741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3936A6-D3F8-4C94-9D0F-5A9C20AF7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07AB36-CC62-F029-4175-5FC71B6408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20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8E0061-0A2F-B552-1AEB-39BBB2E03B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94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C7B0E63-F268-344A-9698-5F11E137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349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68C6C-F645-41F0-811D-305DF0F1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D8E4A-30F4-0483-BC67-C27BEDF632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077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 with pictur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26A6A1-821B-3544-8E1B-66965F34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349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7041736" y="1191846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E9EF53-6FA3-4CCB-95D9-B0993F5F9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6D1325-D353-255B-4CFF-6DEF895893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65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pictur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0202" y="609602"/>
            <a:ext cx="5780741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7041736" y="0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A2205D-B21D-4CFA-93AC-4F842B7DA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308EE2-FE8D-0311-5B02-E788C3F701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261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0202" y="609602"/>
            <a:ext cx="9477499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55B7CF-7542-4F5F-B8C6-2AEFC3C1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AB00F9-207E-909A-4094-6F3D102FF0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803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2222BBD-A73B-7945-9948-C8E90AEC1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71" y="550745"/>
            <a:ext cx="6600441" cy="1016000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E37CC2-F65E-5C36-F936-C829C3A9AF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840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557D06-B73F-0342-ADB9-E801D75568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71" y="550745"/>
            <a:ext cx="6600441" cy="1016000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AE4233-2B54-1E59-577B-28006FB40F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361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633176A-37CE-D941-ABF9-7343B4BA7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0354" y="2626476"/>
            <a:ext cx="6756330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20216D-BE30-4406-9ECE-AA8EE6C3C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D32AF1-D704-F2B9-ECE1-5BEE58678D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644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4DFCEC1-F84F-AB4F-BBDF-8FB2899C67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2953" y="529931"/>
            <a:ext cx="5470771" cy="1401203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92953" y="2183390"/>
            <a:ext cx="9118606" cy="2939888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1615F9-2DC2-4A07-9DBA-CDC68210E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A983C-BD36-FE2A-2E54-D854F159E0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1050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tex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3A1F369-B4D9-1D4E-8129-28BA3151BA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7653" y="539279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67653" y="2183390"/>
            <a:ext cx="9118606" cy="2939888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DAEB68-F742-4B3E-A13B-8711E3718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65D6B3-9FDF-65B6-F45A-9AA7B3011B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379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/quote/sloga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484111" y="2243937"/>
            <a:ext cx="4456112" cy="1316038"/>
          </a:xfrm>
        </p:spPr>
        <p:txBody>
          <a:bodyPr>
            <a:norm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Citation / quote / slogan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4912D-E388-A14F-97D4-CA4654920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5125" y="1390022"/>
            <a:ext cx="5473700" cy="54679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6319FE4-FBA9-4DEE-90B2-1C2EEF5EB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899C8B-3D58-4FE3-BF3E-405E14826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5125" y="1390022"/>
            <a:ext cx="5473700" cy="54679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4B6E71-F6E9-0B2F-F450-FCAACC64D8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4453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/quote/sloga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484111" y="2243937"/>
            <a:ext cx="4456112" cy="1316038"/>
          </a:xfrm>
        </p:spPr>
        <p:txBody>
          <a:bodyPr>
            <a:no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Citation / quote / slogan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740525" y="1409700"/>
            <a:ext cx="5448300" cy="54483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4F931-EDA8-4D82-BE6C-7968983D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C55510-4E75-8D6A-598F-10C62E396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309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/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dia Placeholder 7"/>
          <p:cNvSpPr>
            <a:spLocks noGrp="1"/>
          </p:cNvSpPr>
          <p:nvPr>
            <p:ph type="media" sz="quarter" idx="10"/>
          </p:nvPr>
        </p:nvSpPr>
        <p:spPr>
          <a:xfrm>
            <a:off x="2995399" y="1612706"/>
            <a:ext cx="6198027" cy="3182412"/>
          </a:xfrm>
        </p:spPr>
        <p:txBody>
          <a:bodyPr/>
          <a:lstStyle/>
          <a:p>
            <a:r>
              <a:rPr lang="en-US"/>
              <a:t>Click icon to add media</a:t>
            </a:r>
            <a:endParaRPr lang="fi-F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41C337-8AD2-9177-E47D-9BE30DB4FE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0878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271381-893E-2149-BD87-35BAD7920A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4681" y="2222786"/>
            <a:ext cx="2852771" cy="1699927"/>
          </a:xfrm>
        </p:spPr>
        <p:txBody>
          <a:bodyPr/>
          <a:lstStyle>
            <a:lvl1pPr algn="r">
              <a:defRPr sz="3000">
                <a:solidFill>
                  <a:srgbClr val="5A5A5A"/>
                </a:solidFill>
              </a:defRPr>
            </a:lvl1pPr>
          </a:lstStyle>
          <a:p>
            <a:pPr lvl="0"/>
            <a:r>
              <a:rPr lang="en-US" dirty="0"/>
              <a:t>THANKS/</a:t>
            </a:r>
            <a:br>
              <a:rPr lang="en-US" dirty="0"/>
            </a:br>
            <a:r>
              <a:rPr lang="en-US" dirty="0"/>
              <a:t>CREDITS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30B59-681C-244E-9E75-267CB2469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0" y="1177636"/>
            <a:ext cx="7023100" cy="56803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5C4B1F0-B05C-4AC9-BCBB-EA1FD90A5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B9DF37-1172-442C-A889-7718C52F2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0" y="1177636"/>
            <a:ext cx="7023100" cy="56803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40B165-DC6B-FB6D-76D9-771E6D3FFF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839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A12EC4-E081-5747-BC9C-6ED420CBB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79" y="0"/>
            <a:ext cx="12198748" cy="3165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12D5D5-8D69-4EE8-998A-AFCB860D5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79" y="0"/>
            <a:ext cx="12198748" cy="31650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3FB059-D72B-4AC3-97F3-30DAA0E2C2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79C817-1B1C-394E-5FF6-F103C5EFE21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0701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3163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836A4C-B8F3-4A06-B45C-3490E7A0C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31635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286D65-F38B-A233-C0B0-C64328705E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474149-39EA-88DB-DF24-5ADA26B0B5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4985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3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3F88AF-B055-4B9A-95B0-E2F7806A5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7351F1-D098-C45B-D263-C365BB2DD3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83FEE2B-73DC-332B-6AF9-8A19F585F2F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0469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4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DDF97-2893-1442-AC4B-CA4A313DF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BFD717-35FA-47B1-ACD5-5093B88F8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72DE44-0142-F2BA-C70B-C587F6C0C7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F84D304-546B-F209-9A77-0187997EC6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795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5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316388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02ABFC-E25C-EFCC-83C0-2FFA5346EA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65C1C22-5D0A-233B-2F05-77994E292E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631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6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707F-5A56-7E4C-BB06-31D0E29E7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699250" y="0"/>
            <a:ext cx="54895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DB113E-C905-BB2C-F527-203853853F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07B649-C232-136C-35EB-B09746BE75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129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7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11F5BD8-5755-4649-A5A9-D795BACA36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7632313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7632313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384CD1-D247-98F7-FCE2-F38F611E6A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9ECEDCE-C099-5DD8-DDB0-00810E5E72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2483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8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2E91DB-40C0-2A45-B643-F8FAF408C3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1886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51886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4895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40B9D1-8937-0DED-9E8D-4F1DD8F464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8200DA-9F5B-5A25-6FCA-3FF7DAAD3D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6155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9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47B53E-896C-8747-9BB8-4FDEA4D759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156" y="1891456"/>
            <a:ext cx="5580769" cy="1306408"/>
          </a:xfrm>
        </p:spPr>
        <p:txBody>
          <a:bodyPr/>
          <a:lstStyle>
            <a:lvl1pPr>
              <a:defRPr>
                <a:solidFill>
                  <a:srgbClr val="FF5000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51886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16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9354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C859D9-6DE1-4053-8C9B-5AE4BAFD2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93543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327F66-4372-20DC-E1BE-B960CA820A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0DDCDA4-B01E-5570-510C-FE70E431051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162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10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6A93D4E-1CE0-7148-8EFC-D3906E47E6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9890" y="0"/>
            <a:ext cx="548893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00A127-6F0F-49BB-9F1B-5C900142E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9890" y="0"/>
            <a:ext cx="5488935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47DD88-B9AC-E25F-F97E-2A974AA62A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1056A62-B053-0965-FC19-543AB094C44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082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75F1AB5-C4FC-764C-9CDD-A8C635A1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8840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4A44D8-D3F5-4744-8A4E-E1BD976D9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66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FE5224-1214-4F7A-A134-C9152647F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66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8ED8BF-1CDF-E70F-74D0-8259FD8B8B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FF6F4AF-5EEB-A3B3-53E9-DB96F63F33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1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 with picture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BA622C8-44FF-B641-87C8-0B3497E28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8840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1191846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5A20AB-EF22-4AA1-A51E-0B2C734ED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371AA0-10C0-C664-266B-BF7E33A6D9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C8CE864-45E5-945B-A8CB-11E142E084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9986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picture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96169" y="609602"/>
            <a:ext cx="5780741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3936A6-D3F8-4C94-9D0F-5A9C20AF7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5D7A55-392B-A76C-9FDF-82DE2C11C0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D91D133-8FFC-7DC8-869A-4FB103E3AB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3312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blank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2897D45-B39E-5B3D-C1CF-904A31B2E8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0D7ACE8-1633-8022-D253-78C799BF6B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7237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C7B0E63-F268-344A-9698-5F11E137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349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68C6C-F645-41F0-811D-305DF0F1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ADC9E2-DB17-B342-9FDD-DDC6319835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0BF35F1-10A8-160F-3260-BB8C83536B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281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 with picture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26A6A1-821B-3544-8E1B-66965F34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349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7041736" y="1191846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E9EF53-6FA3-4CCB-95D9-B0993F5F9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62EF4D-E06F-050B-473F-7553D83955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00EBFE-4B6E-1317-5F66-3345C70739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68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picture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0202" y="609602"/>
            <a:ext cx="5780741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7041736" y="0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A2205D-B21D-4CFA-93AC-4F842B7DA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E6774D-6845-6D10-A9A0-10299B021A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727230-6E10-1B9C-35FD-B1A4DABFF2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655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ext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0202" y="609602"/>
            <a:ext cx="9477499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55B7CF-7542-4F5F-B8C6-2AEFC3C1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11346B-8E88-D210-505F-723133C520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16FD4D8-435A-F69C-8416-3CF0AAC480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96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3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2222BBD-A73B-7945-9948-C8E90AEC1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71" y="550745"/>
            <a:ext cx="6600441" cy="1016000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E3E35D-A225-192A-557D-6CE61DF4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F8DBAE6-1D88-F542-5050-32DF2E1BB8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532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4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557D06-B73F-0342-ADB9-E801D75568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71" y="550745"/>
            <a:ext cx="6600441" cy="1016000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C5962E-D7CD-9E2F-187A-B65912DDDA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13FED91-CE66-6D16-3726-6153E53421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1718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5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633176A-37CE-D941-ABF9-7343B4BA7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0354" y="2626476"/>
            <a:ext cx="6756330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20216D-BE30-4406-9ECE-AA8EE6C3C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8EB756-310D-B273-4E2A-7B7B9156DF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96452F-2A80-46DD-6347-5BEA7E5B43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4578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text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4DFCEC1-F84F-AB4F-BBDF-8FB2899C67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2953" y="529931"/>
            <a:ext cx="5470771" cy="1401203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92953" y="2183390"/>
            <a:ext cx="9118606" cy="2939888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1615F9-2DC2-4A07-9DBA-CDC68210E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C95BA6-76FC-9516-C325-0AE3E3B2EB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A2D4EC-C994-FDEE-718C-314BD44B81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227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text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3A1F369-B4D9-1D4E-8129-28BA3151BA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7653" y="539279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67653" y="2183390"/>
            <a:ext cx="9118606" cy="2939888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DAEB68-F742-4B3E-A13B-8711E3718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EEB2B3-23C4-D22E-BDA7-DA1712AA98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F14056-212B-D2A7-1441-1484490C51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208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/quote/slogan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484111" y="2243937"/>
            <a:ext cx="4456112" cy="1316038"/>
          </a:xfrm>
        </p:spPr>
        <p:txBody>
          <a:bodyPr>
            <a:norm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Citation / quote / slogan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4912D-E388-A14F-97D4-CA4654920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5125" y="1390022"/>
            <a:ext cx="5473700" cy="54679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6319FE4-FBA9-4DEE-90B2-1C2EEF5EB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899C8B-3D58-4FE3-BF3E-405E14826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5125" y="1390022"/>
            <a:ext cx="5473700" cy="5467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10DBD3-F230-212B-2926-56B0BB5F5C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247853-2A5E-C84D-F074-D74BFE00291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511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/quote/slogan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484111" y="2243937"/>
            <a:ext cx="4456112" cy="1316038"/>
          </a:xfrm>
        </p:spPr>
        <p:txBody>
          <a:bodyPr>
            <a:no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Citation / quote / slogan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740525" y="1409700"/>
            <a:ext cx="5448300" cy="54483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4F931-EDA8-4D82-BE6C-7968983D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B442D8-B018-2425-A610-447C6A15F7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5C2B28-A906-E013-CCD2-65DB89091C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8506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/media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dia Placeholder 7"/>
          <p:cNvSpPr>
            <a:spLocks noGrp="1"/>
          </p:cNvSpPr>
          <p:nvPr>
            <p:ph type="media" sz="quarter" idx="10"/>
          </p:nvPr>
        </p:nvSpPr>
        <p:spPr>
          <a:xfrm>
            <a:off x="2995399" y="1612706"/>
            <a:ext cx="6198027" cy="3182412"/>
          </a:xfrm>
        </p:spPr>
        <p:txBody>
          <a:bodyPr/>
          <a:lstStyle/>
          <a:p>
            <a:r>
              <a:rPr lang="en-US"/>
              <a:t>Click icon to add media</a:t>
            </a:r>
            <a:endParaRPr lang="fi-FI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6BE04B-FD03-B710-6F78-A304EF41AD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A3FB4E-113B-F798-938F-8CAF3FBCF7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576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271381-893E-2149-BD87-35BAD7920A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4681" y="2222786"/>
            <a:ext cx="2852771" cy="1699927"/>
          </a:xfrm>
        </p:spPr>
        <p:txBody>
          <a:bodyPr/>
          <a:lstStyle>
            <a:lvl1pPr algn="r">
              <a:defRPr sz="3000">
                <a:solidFill>
                  <a:srgbClr val="5A5A5A"/>
                </a:solidFill>
              </a:defRPr>
            </a:lvl1pPr>
          </a:lstStyle>
          <a:p>
            <a:pPr lvl="0"/>
            <a:r>
              <a:rPr lang="en-US" dirty="0"/>
              <a:t>THANKS/</a:t>
            </a:r>
            <a:br>
              <a:rPr lang="en-US" dirty="0"/>
            </a:br>
            <a:r>
              <a:rPr lang="en-US" dirty="0"/>
              <a:t>CREDITS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30B59-681C-244E-9E75-267CB2469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0" y="1177636"/>
            <a:ext cx="7023100" cy="56803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5C4B1F0-B05C-4AC9-BCBB-EA1FD90A5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B9DF37-1172-442C-A889-7718C52F2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0" y="1187575"/>
            <a:ext cx="7023100" cy="56803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DCE5E5-08DA-7E96-9ECF-CE982B3998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47C8F0-C7DF-1846-A5C5-2A484E4FDD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805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76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  <p:sldLayoutId id="2147483733" r:id="rId32"/>
    <p:sldLayoutId id="2147483734" r:id="rId33"/>
    <p:sldLayoutId id="2147483735" r:id="rId34"/>
    <p:sldLayoutId id="2147483736" r:id="rId35"/>
    <p:sldLayoutId id="2147483737" r:id="rId36"/>
    <p:sldLayoutId id="2147483738" r:id="rId37"/>
    <p:sldLayoutId id="2147483739" r:id="rId38"/>
    <p:sldLayoutId id="2147483740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6" r:id="rId45"/>
    <p:sldLayoutId id="2147483747" r:id="rId46"/>
    <p:sldLayoutId id="2147483748" r:id="rId47"/>
    <p:sldLayoutId id="2147483749" r:id="rId48"/>
    <p:sldLayoutId id="2147483750" r:id="rId49"/>
    <p:sldLayoutId id="2147483751" r:id="rId50"/>
    <p:sldLayoutId id="2147483752" r:id="rId51"/>
    <p:sldLayoutId id="2147483753" r:id="rId52"/>
    <p:sldLayoutId id="2147483754" r:id="rId53"/>
    <p:sldLayoutId id="2147483755" r:id="rId5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i="0" kern="1200">
          <a:solidFill>
            <a:srgbClr val="FF5000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ED003-4F2B-294F-8F1A-9714C1591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CH4</a:t>
            </a:r>
            <a:br>
              <a:rPr lang="en-US" dirty="0"/>
            </a:br>
            <a:r>
              <a:rPr lang="en-US" dirty="0"/>
              <a:t>Lists revision + Intro to Stack &amp; Queue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126226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0B331-9D8C-FA2B-3A99-D3CCF122A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37AF5-633B-A573-AFE7-FE676D51A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924" y="103345"/>
            <a:ext cx="5470771" cy="1391855"/>
          </a:xfrm>
        </p:spPr>
        <p:txBody>
          <a:bodyPr/>
          <a:lstStyle/>
          <a:p>
            <a:r>
              <a:rPr lang="en-US" dirty="0"/>
              <a:t>Agenda</a:t>
            </a:r>
            <a:endParaRPr lang="en-FI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2AF9EC7-0644-1E8D-A412-906137213E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84374" y="2494566"/>
            <a:ext cx="5041017" cy="1348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Lists </a:t>
            </a:r>
            <a:r>
              <a:rPr lang="en-US" b="1" dirty="0"/>
              <a:t>Revision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Stack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Queue</a:t>
            </a: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1E18ABF9-A3FA-3E4D-D2B0-21142F0AC874}"/>
              </a:ext>
            </a:extLst>
          </p:cNvPr>
          <p:cNvSpPr txBox="1"/>
          <p:nvPr/>
        </p:nvSpPr>
        <p:spPr>
          <a:xfrm>
            <a:off x="6466330" y="484199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Image: </a:t>
            </a:r>
            <a:r>
              <a:rPr lang="en-US" sz="800" i="1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Pixabay</a:t>
            </a:r>
            <a:endParaRPr lang="en-FI" sz="800" i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CABE51A3-B016-7FFF-F089-D2C5C8E10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962151"/>
            <a:ext cx="5119723" cy="287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1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B8727-4001-19D5-E24A-2D2C37E1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7D8612A9-2A4F-10EF-FBBA-51315BD42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7" y="1363418"/>
            <a:ext cx="5780741" cy="4953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= a set of elements one after another (for ex. nodes).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Consists of </a:t>
            </a:r>
            <a:r>
              <a:rPr lang="en-US" b="1" dirty="0">
                <a:solidFill>
                  <a:schemeClr val="accent1"/>
                </a:solidFill>
              </a:rPr>
              <a:t>Nodes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Data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Pointer or a ‘link’ to the next 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F6AF2204-09EB-C2BB-B2A3-BD1A6F1DDF7A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1. List </a:t>
            </a:r>
            <a:r>
              <a:rPr lang="en-US" sz="2800" b="1" dirty="0">
                <a:solidFill>
                  <a:srgbClr val="FF0000"/>
                </a:solidFill>
              </a:rPr>
              <a:t>Revision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69FE1B8-B11A-15CA-6079-9F34DE34E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kstiruutu 7">
            <a:extLst>
              <a:ext uri="{FF2B5EF4-FFF2-40B4-BE49-F238E27FC236}">
                <a16:creationId xmlns:a16="http://schemas.microsoft.com/office/drawing/2014/main" id="{8D76D8FC-32E0-E65C-9484-079A9F67F0D7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1" name="Kuvan paikkamerkki 10">
            <a:extLst>
              <a:ext uri="{FF2B5EF4-FFF2-40B4-BE49-F238E27FC236}">
                <a16:creationId xmlns:a16="http://schemas.microsoft.com/office/drawing/2014/main" id="{AA84DA14-9EFE-33D2-31F2-7138D19C171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24310" r="2431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3251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B83CBFC-73FE-3A94-4DBA-5BC548E64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74" y="392113"/>
            <a:ext cx="100488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kstiruutu 5">
            <a:extLst>
              <a:ext uri="{FF2B5EF4-FFF2-40B4-BE49-F238E27FC236}">
                <a16:creationId xmlns:a16="http://schemas.microsoft.com/office/drawing/2014/main" id="{ADA0989B-B173-DF3C-D349-D3C311DE1F7D}"/>
              </a:ext>
            </a:extLst>
          </p:cNvPr>
          <p:cNvSpPr txBox="1"/>
          <p:nvPr/>
        </p:nvSpPr>
        <p:spPr>
          <a:xfrm>
            <a:off x="5549900" y="32213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What is this?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461545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0BA39-F58E-7AC2-EFC7-84DFCE991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A9AA74B-801C-EFD5-3590-D4D1FCB44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74" y="392113"/>
            <a:ext cx="100488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kstiruutu 4">
            <a:extLst>
              <a:ext uri="{FF2B5EF4-FFF2-40B4-BE49-F238E27FC236}">
                <a16:creationId xmlns:a16="http://schemas.microsoft.com/office/drawing/2014/main" id="{1C93BDF6-3F51-1662-7E0B-6C137E1B0A04}"/>
              </a:ext>
            </a:extLst>
          </p:cNvPr>
          <p:cNvSpPr txBox="1"/>
          <p:nvPr/>
        </p:nvSpPr>
        <p:spPr>
          <a:xfrm>
            <a:off x="5549900" y="32213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 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singly linked list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is the simplest kind of linked lists. It takes up </a:t>
            </a:r>
            <a:r>
              <a:rPr lang="en-US" b="1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less space in memory 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because each node has only one address to the next node.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07621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2F9D9-E131-7D1B-EFD7-1854EDF17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iruutu 4">
            <a:extLst>
              <a:ext uri="{FF2B5EF4-FFF2-40B4-BE49-F238E27FC236}">
                <a16:creationId xmlns:a16="http://schemas.microsoft.com/office/drawing/2014/main" id="{34399C15-B360-6EB6-98CF-1E6AEA651660}"/>
              </a:ext>
            </a:extLst>
          </p:cNvPr>
          <p:cNvSpPr txBox="1"/>
          <p:nvPr/>
        </p:nvSpPr>
        <p:spPr>
          <a:xfrm>
            <a:off x="5549900" y="32213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What is this?</a:t>
            </a:r>
            <a:endParaRPr lang="en-FI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46D6298-DF65-3082-9B1D-5778ED7B5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00590"/>
            <a:ext cx="11198225" cy="272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075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E3001-06A0-9962-D89C-C59A1F544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iruutu 4">
            <a:extLst>
              <a:ext uri="{FF2B5EF4-FFF2-40B4-BE49-F238E27FC236}">
                <a16:creationId xmlns:a16="http://schemas.microsoft.com/office/drawing/2014/main" id="{B4ECB2D3-A4E9-2F31-563F-5E9478B2FDF7}"/>
              </a:ext>
            </a:extLst>
          </p:cNvPr>
          <p:cNvSpPr txBox="1"/>
          <p:nvPr/>
        </p:nvSpPr>
        <p:spPr>
          <a:xfrm>
            <a:off x="5549900" y="322133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A </a:t>
            </a:r>
            <a:r>
              <a:rPr lang="en-US" b="1" dirty="0">
                <a:solidFill>
                  <a:srgbClr val="000000"/>
                </a:solidFill>
                <a:latin typeface="Segoe UI" panose="020B0502040204020203" pitchFamily="34" charset="0"/>
              </a:rPr>
              <a:t>doubly linked list 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has 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nodes with addresses to both the previous and the next node, like in the image below, and therefore </a:t>
            </a:r>
            <a:r>
              <a:rPr lang="en-US" i="0" dirty="0">
                <a:solidFill>
                  <a:schemeClr val="tx2"/>
                </a:solidFill>
                <a:effectLst/>
                <a:latin typeface="Segoe UI" panose="020B0502040204020203" pitchFamily="34" charset="0"/>
              </a:rPr>
              <a:t>takes up more memory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. But doubly linked lists are </a:t>
            </a:r>
            <a:r>
              <a:rPr lang="en-US" b="1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good if you want to be able to move both up and down in the list.</a:t>
            </a:r>
            <a:endParaRPr lang="en-FI" b="1" dirty="0">
              <a:solidFill>
                <a:srgbClr val="FF0000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5BFE69A-A038-52D3-3F8E-D520594AE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00590"/>
            <a:ext cx="11198225" cy="272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1836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54B62-7140-6F75-5053-9038EC33E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1F49C139-14E7-D9E5-28F5-5A28925DF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7" y="1363418"/>
            <a:ext cx="5780741" cy="4953000"/>
          </a:xfrm>
        </p:spPr>
        <p:txBody>
          <a:bodyPr/>
          <a:lstStyle/>
          <a:p>
            <a:r>
              <a:rPr lang="en-US" dirty="0"/>
              <a:t>Basic things we can do with linked lists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Traversal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Remove a node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Insert a node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Sort</a:t>
            </a:r>
          </a:p>
          <a:p>
            <a:endParaRPr lang="en-US" dirty="0"/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20610819-2918-2476-4E9D-A4C2FEFFD014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1.1 List </a:t>
            </a:r>
            <a:r>
              <a:rPr lang="en-US" sz="2800" b="1" dirty="0">
                <a:solidFill>
                  <a:srgbClr val="FF0000"/>
                </a:solidFill>
              </a:rPr>
              <a:t>Revision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90F922F-C442-67A7-023B-48678DA36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kstiruutu 7">
            <a:extLst>
              <a:ext uri="{FF2B5EF4-FFF2-40B4-BE49-F238E27FC236}">
                <a16:creationId xmlns:a16="http://schemas.microsoft.com/office/drawing/2014/main" id="{7C505D27-5DA7-6EFD-60EE-A77820B839C4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1" name="Kuvan paikkamerkki 10">
            <a:extLst>
              <a:ext uri="{FF2B5EF4-FFF2-40B4-BE49-F238E27FC236}">
                <a16:creationId xmlns:a16="http://schemas.microsoft.com/office/drawing/2014/main" id="{E8BFDD07-47E5-65CC-2FC7-78FE32E17CF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24310" r="2431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73448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046AF-E311-DB33-3835-6AF27057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93FB2D37-391E-B6B6-796C-9E5F0590B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7" y="1363418"/>
            <a:ext cx="5780741" cy="4953000"/>
          </a:xfrm>
        </p:spPr>
        <p:txBody>
          <a:bodyPr/>
          <a:lstStyle/>
          <a:p>
            <a:r>
              <a:rPr lang="en-US" dirty="0"/>
              <a:t>Let’s practice again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Create a class Node for a linked list</a:t>
            </a:r>
          </a:p>
          <a:p>
            <a:pPr marL="1200150" lvl="1" indent="-457200">
              <a:buAutoNum type="arabicPeriod"/>
            </a:pPr>
            <a:r>
              <a:rPr lang="en-US" dirty="0"/>
              <a:t>Data</a:t>
            </a:r>
          </a:p>
          <a:p>
            <a:pPr marL="1200150" lvl="1" indent="-457200">
              <a:buAutoNum type="arabicPeriod"/>
            </a:pPr>
            <a:r>
              <a:rPr lang="en-US" dirty="0"/>
              <a:t>Link/pointer</a:t>
            </a:r>
          </a:p>
          <a:p>
            <a:pPr marL="1200150" lvl="1" indent="-457200">
              <a:buAutoNum type="arabicPeriod"/>
            </a:pPr>
            <a:endParaRPr lang="en-US" dirty="0"/>
          </a:p>
          <a:p>
            <a:r>
              <a:rPr lang="en-US" i="1" dirty="0"/>
              <a:t>Pseudo code:</a:t>
            </a:r>
          </a:p>
          <a:p>
            <a:r>
              <a:rPr lang="en-US" sz="2000" dirty="0"/>
              <a:t>Class Node</a:t>
            </a:r>
          </a:p>
          <a:p>
            <a:r>
              <a:rPr lang="en-US" sz="2000" dirty="0"/>
              <a:t>	def Init</a:t>
            </a:r>
          </a:p>
          <a:p>
            <a:r>
              <a:rPr lang="en-US" sz="2000" dirty="0"/>
              <a:t>		data</a:t>
            </a:r>
          </a:p>
          <a:p>
            <a:r>
              <a:rPr lang="en-US" sz="2000" dirty="0"/>
              <a:t>		pointer to next node (None)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A30B21B0-78BA-A540-CA58-6A9019FCDA76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1.1 List </a:t>
            </a:r>
            <a:r>
              <a:rPr lang="en-US" sz="2800" b="1" dirty="0">
                <a:solidFill>
                  <a:srgbClr val="FF0000"/>
                </a:solidFill>
              </a:rPr>
              <a:t>Revision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7543149-DD9A-6A9E-5030-9F171D2C9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kstiruutu 7">
            <a:extLst>
              <a:ext uri="{FF2B5EF4-FFF2-40B4-BE49-F238E27FC236}">
                <a16:creationId xmlns:a16="http://schemas.microsoft.com/office/drawing/2014/main" id="{5CC83091-41BF-F9DD-7141-1CA5A7621E53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1" name="Kuvan paikkamerkki 10">
            <a:extLst>
              <a:ext uri="{FF2B5EF4-FFF2-40B4-BE49-F238E27FC236}">
                <a16:creationId xmlns:a16="http://schemas.microsoft.com/office/drawing/2014/main" id="{FC8E5A93-BB15-8CBB-DD6D-221AB5C095C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24310" r="2431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0339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E53FD-C4CB-678B-75D8-EFDA13533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C4B20725-AD80-9DDC-AD7B-5377006E3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7" y="1363418"/>
            <a:ext cx="5780741" cy="4953000"/>
          </a:xfrm>
        </p:spPr>
        <p:txBody>
          <a:bodyPr/>
          <a:lstStyle/>
          <a:p>
            <a:r>
              <a:rPr lang="en-US" dirty="0"/>
              <a:t>Let’s practice again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Create a class Node for a linked list</a:t>
            </a:r>
          </a:p>
          <a:p>
            <a:pPr marL="1200150" lvl="1" indent="-457200">
              <a:buAutoNum type="arabicPeriod"/>
            </a:pPr>
            <a:r>
              <a:rPr lang="en-US" dirty="0"/>
              <a:t>Data</a:t>
            </a:r>
          </a:p>
          <a:p>
            <a:pPr marL="1200150" lvl="1" indent="-457200">
              <a:buAutoNum type="arabicPeriod"/>
            </a:pPr>
            <a:r>
              <a:rPr lang="en-US" dirty="0"/>
              <a:t>Link/pointer</a:t>
            </a:r>
          </a:p>
          <a:p>
            <a:pPr marL="1200150" lvl="1" indent="-457200">
              <a:buAutoNum type="arabicPeriod"/>
            </a:pPr>
            <a:endParaRPr lang="en-US" dirty="0"/>
          </a:p>
          <a:p>
            <a:r>
              <a:rPr lang="en-US" i="1" dirty="0"/>
              <a:t>Pseudo code:</a:t>
            </a:r>
          </a:p>
          <a:p>
            <a:r>
              <a:rPr lang="en-US" sz="2000" dirty="0"/>
              <a:t>Class Node</a:t>
            </a:r>
          </a:p>
          <a:p>
            <a:r>
              <a:rPr lang="en-US" sz="2000" dirty="0"/>
              <a:t>	def Init</a:t>
            </a:r>
          </a:p>
          <a:p>
            <a:r>
              <a:rPr lang="en-US" sz="2000" dirty="0"/>
              <a:t>		data</a:t>
            </a:r>
          </a:p>
          <a:p>
            <a:r>
              <a:rPr lang="en-US" sz="2000" dirty="0"/>
              <a:t>		pointer to next node (None)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C91D01E2-DFDE-74DE-8686-A1D8CE76ED09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1.1 List </a:t>
            </a:r>
            <a:r>
              <a:rPr lang="en-US" sz="2800" b="1" dirty="0">
                <a:solidFill>
                  <a:srgbClr val="FF0000"/>
                </a:solidFill>
              </a:rPr>
              <a:t>Revision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B08C793-A109-7FA1-FFEF-A219A4003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kstiruutu 7">
            <a:extLst>
              <a:ext uri="{FF2B5EF4-FFF2-40B4-BE49-F238E27FC236}">
                <a16:creationId xmlns:a16="http://schemas.microsoft.com/office/drawing/2014/main" id="{A1FC7CB8-818F-A645-7D7E-1271D9CE2EFA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1" name="Kuvan paikkamerkki 10">
            <a:extLst>
              <a:ext uri="{FF2B5EF4-FFF2-40B4-BE49-F238E27FC236}">
                <a16:creationId xmlns:a16="http://schemas.microsoft.com/office/drawing/2014/main" id="{598BF243-DA65-A645-9BD5-4A62A8BB593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24310" r="24310"/>
          <a:stretch>
            <a:fillRect/>
          </a:stretch>
        </p:blipFill>
        <p:spPr/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A4B38D8-9A1F-28D4-3C06-8FFDAB9321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39"/>
          <a:stretch>
            <a:fillRect/>
          </a:stretch>
        </p:blipFill>
        <p:spPr bwMode="auto">
          <a:xfrm>
            <a:off x="54782" y="1363419"/>
            <a:ext cx="5037524" cy="1919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363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24948-35B0-3F72-8FBE-B01825619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F87B8C8E-61C0-AD71-E562-6BAD09D6F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236418"/>
            <a:ext cx="5780741" cy="4953000"/>
          </a:xfrm>
        </p:spPr>
        <p:txBody>
          <a:bodyPr/>
          <a:lstStyle/>
          <a:p>
            <a:r>
              <a:rPr lang="en-US" dirty="0"/>
              <a:t>Let’s continue this</a:t>
            </a:r>
            <a:r>
              <a:rPr lang="en-US" dirty="0">
                <a:sym typeface="Wingdings" panose="05000000000000000000" pitchFamily="2" charset="2"/>
              </a:rPr>
              <a:t>:</a:t>
            </a:r>
            <a:endParaRPr lang="en-US" dirty="0"/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5 nodes with different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Link them to each other (assign “next”)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a function that goes through all the nodes and prints them</a:t>
            </a:r>
          </a:p>
          <a:p>
            <a:endParaRPr lang="en-US" dirty="0"/>
          </a:p>
          <a:p>
            <a:r>
              <a:rPr lang="en-US" sz="2000" dirty="0"/>
              <a:t>def </a:t>
            </a:r>
            <a:r>
              <a:rPr lang="en-US" sz="2000" dirty="0" err="1"/>
              <a:t>printNodes</a:t>
            </a:r>
            <a:r>
              <a:rPr lang="en-US" sz="2000" dirty="0"/>
              <a:t>(head)</a:t>
            </a:r>
          </a:p>
          <a:p>
            <a:r>
              <a:rPr lang="en-US" sz="2000" dirty="0"/>
              <a:t>	assign first node as head</a:t>
            </a:r>
          </a:p>
          <a:p>
            <a:r>
              <a:rPr lang="en-US" sz="2000" dirty="0"/>
              <a:t>	loop through the noes and print data (while)</a:t>
            </a:r>
          </a:p>
          <a:p>
            <a:r>
              <a:rPr lang="en-US" sz="2000" dirty="0"/>
              <a:t>	print “null” or “end” at the end after iterating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F9BC49AC-8D87-A906-BEF8-ED3E5AB628E5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1.2 List </a:t>
            </a:r>
            <a:r>
              <a:rPr lang="en-US" sz="2800" b="1" dirty="0">
                <a:solidFill>
                  <a:srgbClr val="FF0000"/>
                </a:solidFill>
              </a:rPr>
              <a:t>Revision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9643AA1-A0EB-85D2-1B8B-EF53A601B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kstiruutu 7">
            <a:extLst>
              <a:ext uri="{FF2B5EF4-FFF2-40B4-BE49-F238E27FC236}">
                <a16:creationId xmlns:a16="http://schemas.microsoft.com/office/drawing/2014/main" id="{A43A71D3-0765-620C-7171-472BF1EE972E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1" name="Kuvan paikkamerkki 10">
            <a:extLst>
              <a:ext uri="{FF2B5EF4-FFF2-40B4-BE49-F238E27FC236}">
                <a16:creationId xmlns:a16="http://schemas.microsoft.com/office/drawing/2014/main" id="{D2A2CC7A-3B90-3576-A316-0CE5611DCF7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24310" r="24310"/>
          <a:stretch>
            <a:fillRect/>
          </a:stretch>
        </p:blipFill>
        <p:spPr/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AC0CC1F-EA10-E197-5D93-3481068D43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39"/>
          <a:stretch>
            <a:fillRect/>
          </a:stretch>
        </p:blipFill>
        <p:spPr bwMode="auto">
          <a:xfrm>
            <a:off x="54782" y="1363419"/>
            <a:ext cx="5037524" cy="1919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392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F7943-11DD-FDDA-E51B-EE32D6B07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iruutu 4">
            <a:extLst>
              <a:ext uri="{FF2B5EF4-FFF2-40B4-BE49-F238E27FC236}">
                <a16:creationId xmlns:a16="http://schemas.microsoft.com/office/drawing/2014/main" id="{F2C98A9D-9E80-1153-AC75-23E196E0DC23}"/>
              </a:ext>
            </a:extLst>
          </p:cNvPr>
          <p:cNvSpPr txBox="1"/>
          <p:nvPr/>
        </p:nvSpPr>
        <p:spPr>
          <a:xfrm>
            <a:off x="5518150" y="484297"/>
            <a:ext cx="6096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Node: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__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__(self, data):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self.data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data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self.</a:t>
            </a:r>
            <a:r>
              <a:rPr lang="en-US" sz="16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 None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printNodes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(head):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currentNode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head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currentNode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currentNode.data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end=</a:t>
            </a:r>
            <a:r>
              <a:rPr lang="en-US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-&gt; "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currentNode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currentNode.</a:t>
            </a:r>
            <a:r>
              <a:rPr lang="en-US" sz="16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next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"null"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node1 = Node(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node2 = Node(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node3 = Node(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node4 = Node(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node5 = Node(</a:t>
            </a:r>
            <a:r>
              <a:rPr lang="en-US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node1.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 node2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node2.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 node3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node3.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 node4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node4.</a:t>
            </a:r>
            <a:r>
              <a:rPr lang="en-US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 node5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printNodes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(node1)</a:t>
            </a:r>
            <a:endParaRPr lang="en-FI" sz="1600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BAF63B95-3582-9EF8-6A7E-3E8383B38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096" y="1702071"/>
            <a:ext cx="5194714" cy="1726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190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8871B-5ABB-0A95-A4FA-61864CC3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EE3E22B6-1938-A1B9-448B-ACFBC7FCC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236418"/>
            <a:ext cx="5780741" cy="4953000"/>
          </a:xfrm>
        </p:spPr>
        <p:txBody>
          <a:bodyPr/>
          <a:lstStyle/>
          <a:p>
            <a:r>
              <a:rPr lang="en-US" dirty="0"/>
              <a:t>Let’s go a bit further now:</a:t>
            </a:r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Now let’s create a new class for the LinkedList</a:t>
            </a:r>
          </a:p>
          <a:p>
            <a:pPr marL="1200150" lvl="1" indent="-457200">
              <a:buFont typeface="+mj-lt"/>
              <a:buAutoNum type="arabicPeriod"/>
            </a:pPr>
            <a:r>
              <a:rPr lang="en-US" dirty="0"/>
              <a:t>The only information you need to store for a linked list is where the list starts (the head of the list).</a:t>
            </a:r>
          </a:p>
          <a:p>
            <a:endParaRPr lang="en-US" dirty="0"/>
          </a:p>
          <a:p>
            <a:r>
              <a:rPr lang="en-US" sz="2000" dirty="0"/>
              <a:t>class LinkedList</a:t>
            </a:r>
          </a:p>
          <a:p>
            <a:r>
              <a:rPr lang="en-US" sz="2000" dirty="0"/>
              <a:t>	Init</a:t>
            </a:r>
          </a:p>
          <a:p>
            <a:r>
              <a:rPr lang="en-US" sz="2000" dirty="0"/>
              <a:t>		set the head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3A1A6483-B0E5-1929-7D44-AD4C3766F2D5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1.3 List </a:t>
            </a:r>
            <a:r>
              <a:rPr lang="en-US" sz="2800" b="1" dirty="0">
                <a:solidFill>
                  <a:srgbClr val="FF0000"/>
                </a:solidFill>
              </a:rPr>
              <a:t>Revision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1B0A8E2-AEFB-F793-F4BC-C7D057B5D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kstiruutu 7">
            <a:extLst>
              <a:ext uri="{FF2B5EF4-FFF2-40B4-BE49-F238E27FC236}">
                <a16:creationId xmlns:a16="http://schemas.microsoft.com/office/drawing/2014/main" id="{FE01CC00-C14C-88C4-D6CE-B9320288D624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1" name="Kuvan paikkamerkki 10">
            <a:extLst>
              <a:ext uri="{FF2B5EF4-FFF2-40B4-BE49-F238E27FC236}">
                <a16:creationId xmlns:a16="http://schemas.microsoft.com/office/drawing/2014/main" id="{F44E5FB7-49D2-36CF-1272-B4E31D3C0B4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24310" r="2431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80522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2586-3C3D-BA10-779A-96DBC774B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1BF539C2-F16D-D9BF-3E7C-E757734E1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236418"/>
            <a:ext cx="5780741" cy="4953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It’s a pretty basic class as you can see.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 have now also added __</a:t>
            </a:r>
            <a:r>
              <a:rPr lang="en-US" sz="2000" dirty="0" err="1"/>
              <a:t>repr</a:t>
            </a:r>
            <a:r>
              <a:rPr lang="en-US" sz="2000" dirty="0"/>
              <a:t>__ (represent) methods to the Node and LinkedList classes so that displaying them is easier. </a:t>
            </a:r>
            <a:r>
              <a:rPr lang="en-US" sz="2000" b="1" dirty="0">
                <a:solidFill>
                  <a:schemeClr val="accent1"/>
                </a:solidFill>
              </a:rPr>
              <a:t>Copy them from here!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accent1"/>
              </a:solidFill>
            </a:endParaRPr>
          </a:p>
          <a:p>
            <a:r>
              <a:rPr lang="en-US" sz="2000" b="1" dirty="0">
                <a:solidFill>
                  <a:schemeClr val="accent1"/>
                </a:solidFill>
              </a:rPr>
              <a:t>TODO: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Create a Linked List using the code you wrote.</a:t>
            </a:r>
          </a:p>
          <a:p>
            <a:pPr marL="1085850" lvl="1" indent="-342900">
              <a:buFont typeface="+mj-lt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Create three nodes a, b and c.</a:t>
            </a:r>
          </a:p>
          <a:p>
            <a:pPr marL="1085850" lvl="1" indent="-342900">
              <a:buFont typeface="+mj-lt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Set the head of the list</a:t>
            </a:r>
          </a:p>
          <a:p>
            <a:pPr marL="1085850" lvl="1" indent="-342900">
              <a:buFont typeface="+mj-lt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Set the pointers of the nodes</a:t>
            </a:r>
          </a:p>
          <a:p>
            <a:pPr marL="1085850" lvl="1" indent="-342900">
              <a:buFont typeface="+mj-lt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Print the list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59CA5828-927A-2084-2A91-ACAAEC572914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1.3 List </a:t>
            </a:r>
            <a:r>
              <a:rPr lang="en-US" sz="2800" b="1" dirty="0">
                <a:solidFill>
                  <a:srgbClr val="FF0000"/>
                </a:solidFill>
              </a:rPr>
              <a:t>Revision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5820CAC-F54C-AF14-E5BD-8DEF81C51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kstiruutu 7">
            <a:extLst>
              <a:ext uri="{FF2B5EF4-FFF2-40B4-BE49-F238E27FC236}">
                <a16:creationId xmlns:a16="http://schemas.microsoft.com/office/drawing/2014/main" id="{1B19DAA8-7ABE-D607-1E68-F355F25520E8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1" name="Kuvan paikkamerkki 10">
            <a:extLst>
              <a:ext uri="{FF2B5EF4-FFF2-40B4-BE49-F238E27FC236}">
                <a16:creationId xmlns:a16="http://schemas.microsoft.com/office/drawing/2014/main" id="{BC034A02-2600-45F6-F727-5105B9AB61A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24310" r="24310"/>
          <a:stretch>
            <a:fillRect/>
          </a:stretch>
        </p:blipFill>
        <p:spPr/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E1663B17-C4A7-2A4E-3E0A-078C62948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" y="79511"/>
            <a:ext cx="4178091" cy="549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2265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97399-7F3C-70E4-45C2-13430693E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iruutu 4">
            <a:extLst>
              <a:ext uri="{FF2B5EF4-FFF2-40B4-BE49-F238E27FC236}">
                <a16:creationId xmlns:a16="http://schemas.microsoft.com/office/drawing/2014/main" id="{DFE095A1-1BB4-AF88-3D66-C5F500CBE600}"/>
              </a:ext>
            </a:extLst>
          </p:cNvPr>
          <p:cNvSpPr txBox="1"/>
          <p:nvPr/>
        </p:nvSpPr>
        <p:spPr>
          <a:xfrm>
            <a:off x="5270500" y="312847"/>
            <a:ext cx="353059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Node:</a:t>
            </a:r>
          </a:p>
          <a:p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1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__</a:t>
            </a:r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__(self, data):</a:t>
            </a:r>
          </a:p>
          <a:p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self.data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= data</a:t>
            </a:r>
          </a:p>
          <a:p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self.next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= None</a:t>
            </a:r>
          </a:p>
          <a:p>
            <a:endParaRPr lang="en-US" sz="1400" b="1" i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1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__</a:t>
            </a:r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repr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__(self):</a:t>
            </a:r>
          </a:p>
          <a:p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400" b="1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self.data</a:t>
            </a:r>
            <a:endParaRPr lang="en-US" sz="1400" b="1" i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  <a:p>
            <a:endParaRPr lang="en-US" sz="1400" b="1" i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LinkedList:</a:t>
            </a:r>
          </a:p>
          <a:p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1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__</a:t>
            </a:r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__(self):</a:t>
            </a:r>
          </a:p>
          <a:p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self.head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= None</a:t>
            </a:r>
          </a:p>
          <a:p>
            <a:endParaRPr lang="en-US" sz="1400" b="1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1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__</a:t>
            </a:r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repr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__(self):</a:t>
            </a:r>
          </a:p>
          <a:p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    node = </a:t>
            </a:r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self.head</a:t>
            </a:r>
            <a:endParaRPr lang="en-US" sz="1400" b="1" i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    nodes = []</a:t>
            </a:r>
          </a:p>
          <a:p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400" b="1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node is not None:</a:t>
            </a:r>
          </a:p>
          <a:p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       </a:t>
            </a:r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nodes.</a:t>
            </a:r>
            <a:r>
              <a:rPr lang="en-US" sz="1400" b="1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node.data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       node = </a:t>
            </a:r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node.</a:t>
            </a:r>
            <a:r>
              <a:rPr lang="en-US" sz="1400" b="1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1400" b="1" i="0" dirty="0">
              <a:solidFill>
                <a:schemeClr val="accent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nodes.append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("None")</a:t>
            </a:r>
          </a:p>
          <a:p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400" b="1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" -&gt; ".join(nodes)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06EEBF67-6E92-791F-8B5D-31012610F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096" y="1702071"/>
            <a:ext cx="5194714" cy="1726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iruutu 1">
            <a:extLst>
              <a:ext uri="{FF2B5EF4-FFF2-40B4-BE49-F238E27FC236}">
                <a16:creationId xmlns:a16="http://schemas.microsoft.com/office/drawing/2014/main" id="{535DBD14-E04A-07D2-6AD7-553DE6F787DB}"/>
              </a:ext>
            </a:extLst>
          </p:cNvPr>
          <p:cNvSpPr txBox="1"/>
          <p:nvPr/>
        </p:nvSpPr>
        <p:spPr>
          <a:xfrm>
            <a:off x="8748282" y="484297"/>
            <a:ext cx="32575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llist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= LinkedList()</a:t>
            </a:r>
          </a:p>
          <a:p>
            <a:endParaRPr lang="en-US" sz="1400" b="1" i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first_node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= Node("a")</a:t>
            </a:r>
          </a:p>
          <a:p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llist.head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first_node</a:t>
            </a:r>
            <a:endParaRPr lang="en-US" sz="1400" b="1" i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  <a:p>
            <a:endParaRPr lang="en-US" sz="1400" b="1" i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second_node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= Node("b")</a:t>
            </a:r>
          </a:p>
          <a:p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third_node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= Node("c")</a:t>
            </a:r>
          </a:p>
          <a:p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first_node.</a:t>
            </a:r>
            <a:r>
              <a:rPr lang="en-US" sz="1400" b="1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second_node</a:t>
            </a:r>
            <a:endParaRPr lang="en-US" sz="1400" b="1" i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second_node.</a:t>
            </a:r>
            <a:r>
              <a:rPr lang="en-US" sz="1400" b="1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third_node</a:t>
            </a:r>
            <a:endParaRPr lang="en-US" sz="1400" b="1" i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  <a:p>
            <a:endParaRPr lang="en-US" sz="1400" b="1" i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  <a:p>
            <a:endParaRPr lang="en-US" sz="1400" b="1" i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llist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.__</a:t>
            </a:r>
            <a:r>
              <a:rPr lang="en-US" sz="1400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repr</a:t>
            </a:r>
            <a:r>
              <a:rPr lang="en-US" sz="14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__())</a:t>
            </a:r>
            <a:endParaRPr lang="en-FI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918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1816C-0EEC-D80D-04AA-3050A74E8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F172ED04-2CE7-A86B-CAAF-7D16221AA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236418"/>
            <a:ext cx="5780741" cy="4953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If you want to make the creation of the LinkedList a bit nicer and easier, you can copy this new __</a:t>
            </a:r>
            <a:r>
              <a:rPr lang="en-US" sz="1800" dirty="0" err="1">
                <a:solidFill>
                  <a:schemeClr val="tx2"/>
                </a:solidFill>
              </a:rPr>
              <a:t>init</a:t>
            </a:r>
            <a:r>
              <a:rPr lang="en-US" sz="1800" dirty="0">
                <a:solidFill>
                  <a:schemeClr val="tx2"/>
                </a:solidFill>
              </a:rPr>
              <a:t>__ method.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b="1" dirty="0">
                <a:solidFill>
                  <a:schemeClr val="accent1"/>
                </a:solidFill>
              </a:rPr>
              <a:t>Final task of Lists today: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Create a method for the LinkedList to traverse it (go through the nodes)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Print the list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Def iter</a:t>
            </a:r>
          </a:p>
          <a:p>
            <a:r>
              <a:rPr lang="en-US" sz="1800" dirty="0">
                <a:solidFill>
                  <a:schemeClr val="tx2"/>
                </a:solidFill>
              </a:rPr>
              <a:t>	- create a variable and assign it head (start)</a:t>
            </a:r>
          </a:p>
          <a:p>
            <a:r>
              <a:rPr lang="en-US" sz="1800" dirty="0">
                <a:solidFill>
                  <a:schemeClr val="tx2"/>
                </a:solidFill>
              </a:rPr>
              <a:t>	- iterate until node is not none (while)</a:t>
            </a:r>
          </a:p>
          <a:p>
            <a:r>
              <a:rPr lang="en-US" sz="1800" dirty="0">
                <a:solidFill>
                  <a:schemeClr val="tx2"/>
                </a:solidFill>
              </a:rPr>
              <a:t>		- yield node</a:t>
            </a:r>
          </a:p>
          <a:p>
            <a:r>
              <a:rPr lang="en-US" sz="1800" dirty="0">
                <a:solidFill>
                  <a:schemeClr val="tx2"/>
                </a:solidFill>
              </a:rPr>
              <a:t>		- node = </a:t>
            </a:r>
            <a:r>
              <a:rPr lang="en-US" sz="1800" dirty="0" err="1">
                <a:solidFill>
                  <a:schemeClr val="tx2"/>
                </a:solidFill>
              </a:rPr>
              <a:t>node.next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Print the nodes of list at end of program using a for loop.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668F4FCC-E8F3-8312-8F8B-B159AC4ED4AC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1.4 List </a:t>
            </a:r>
            <a:r>
              <a:rPr lang="en-US" sz="2800" b="1" dirty="0">
                <a:solidFill>
                  <a:srgbClr val="FF0000"/>
                </a:solidFill>
              </a:rPr>
              <a:t>Revision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3835887-B98D-5AD7-3DE0-7D59E1EEB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kstiruutu 7">
            <a:extLst>
              <a:ext uri="{FF2B5EF4-FFF2-40B4-BE49-F238E27FC236}">
                <a16:creationId xmlns:a16="http://schemas.microsoft.com/office/drawing/2014/main" id="{B0C578DE-C1D8-90E7-7DC4-3F6B9364CC03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1" name="Kuvan paikkamerkki 10">
            <a:extLst>
              <a:ext uri="{FF2B5EF4-FFF2-40B4-BE49-F238E27FC236}">
                <a16:creationId xmlns:a16="http://schemas.microsoft.com/office/drawing/2014/main" id="{74D0CB10-1FF6-9A82-85C5-0FE04E92969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24310" r="24310"/>
          <a:stretch>
            <a:fillRect/>
          </a:stretch>
        </p:blipFill>
        <p:spPr/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226EADCD-305F-9421-29A1-AEBD48BC5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717" y="654050"/>
            <a:ext cx="4551654" cy="261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41223937-42EA-B0C3-D9A6-F4E25214F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717" y="3425826"/>
            <a:ext cx="4541453" cy="40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1092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083FA-0169-4B9C-712B-A9876430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iruutu 4">
            <a:extLst>
              <a:ext uri="{FF2B5EF4-FFF2-40B4-BE49-F238E27FC236}">
                <a16:creationId xmlns:a16="http://schemas.microsoft.com/office/drawing/2014/main" id="{5ED4286C-313E-9C3B-728D-09C53E81FC56}"/>
              </a:ext>
            </a:extLst>
          </p:cNvPr>
          <p:cNvSpPr txBox="1"/>
          <p:nvPr/>
        </p:nvSpPr>
        <p:spPr>
          <a:xfrm>
            <a:off x="5270500" y="312847"/>
            <a:ext cx="5486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__iter__(self):</a:t>
            </a:r>
          </a:p>
          <a:p>
            <a:r>
              <a:rPr lang="en-US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    node = </a:t>
            </a:r>
            <a:r>
              <a:rPr lang="en-US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self.head</a:t>
            </a:r>
            <a:endParaRPr lang="en-US" b="1" i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1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node is not None:</a:t>
            </a:r>
          </a:p>
          <a:p>
            <a:r>
              <a:rPr lang="en-US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b="1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node</a:t>
            </a:r>
          </a:p>
          <a:p>
            <a:r>
              <a:rPr lang="en-US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        node = </a:t>
            </a:r>
            <a:r>
              <a:rPr lang="en-US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node.</a:t>
            </a:r>
            <a:r>
              <a:rPr lang="en-US" b="1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b="1" i="0" dirty="0">
              <a:solidFill>
                <a:schemeClr val="accent3"/>
              </a:solidFill>
              <a:effectLst/>
              <a:latin typeface="Consolas" panose="020B0609020204030204" pitchFamily="49" charset="0"/>
            </a:endParaRPr>
          </a:p>
          <a:p>
            <a:endParaRPr lang="en-US" b="1" i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llist</a:t>
            </a:r>
            <a:r>
              <a:rPr lang="en-US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= LinkedList(['a', 'b', 'c', 'd'])</a:t>
            </a:r>
          </a:p>
          <a:p>
            <a:endParaRPr lang="en-US" b="1" i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node </a:t>
            </a:r>
            <a:r>
              <a:rPr lang="en-US" b="1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llist</a:t>
            </a:r>
            <a:r>
              <a:rPr lang="en-US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1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(node)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3C442849-4FF9-A9AE-773E-7872400D2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096" y="1702071"/>
            <a:ext cx="5194714" cy="1726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iruutu 1">
            <a:extLst>
              <a:ext uri="{FF2B5EF4-FFF2-40B4-BE49-F238E27FC236}">
                <a16:creationId xmlns:a16="http://schemas.microsoft.com/office/drawing/2014/main" id="{17DB804D-586D-810D-9A58-1EC9C9E7D767}"/>
              </a:ext>
            </a:extLst>
          </p:cNvPr>
          <p:cNvSpPr txBox="1"/>
          <p:nvPr/>
        </p:nvSpPr>
        <p:spPr>
          <a:xfrm>
            <a:off x="5562600" y="3551347"/>
            <a:ext cx="5486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You have new homework exercises at OMA </a:t>
            </a:r>
            <a:r>
              <a:rPr lang="en-US" sz="20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</a:t>
            </a:r>
          </a:p>
          <a:p>
            <a:pPr marL="285750" indent="-285750">
              <a:buFontTx/>
              <a:buChar char="-"/>
            </a:pPr>
            <a:r>
              <a:rPr lang="en-US" sz="2000" b="1" dirty="0">
                <a:solidFill>
                  <a:schemeClr val="tx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Insert at Start</a:t>
            </a:r>
          </a:p>
          <a:p>
            <a:pPr marL="285750" indent="-285750">
              <a:buFontTx/>
              <a:buChar char="-"/>
            </a:pPr>
            <a:r>
              <a:rPr lang="en-US" sz="2000" b="1" dirty="0">
                <a:solidFill>
                  <a:schemeClr val="tx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Insert at End</a:t>
            </a:r>
          </a:p>
          <a:p>
            <a:pPr marL="285750" indent="-285750">
              <a:buFontTx/>
              <a:buChar char="-"/>
            </a:pPr>
            <a:r>
              <a:rPr lang="en-US" sz="20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Insert between Two Nodes</a:t>
            </a:r>
          </a:p>
          <a:p>
            <a:pPr marL="285750" indent="-285750">
              <a:buFontTx/>
              <a:buChar char="-"/>
            </a:pPr>
            <a:r>
              <a:rPr lang="en-US" sz="2000" b="1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Remove a Node</a:t>
            </a:r>
          </a:p>
        </p:txBody>
      </p:sp>
    </p:spTree>
    <p:extLst>
      <p:ext uri="{BB962C8B-B14F-4D97-AF65-F5344CB8AC3E}">
        <p14:creationId xmlns:p14="http://schemas.microsoft.com/office/powerpoint/2010/main" val="3141514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E561F-A42E-A39D-8823-EFA623F21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4F2947DF-A90C-269D-3374-43DC43408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7" y="1363418"/>
            <a:ext cx="5780741" cy="4953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ADT = Abstract Data Structure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It is a concept that can be recreated in any coding language.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LIFO = Last-In/First-Out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Last element we put in, is the first one to be taken 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Can be implemented using a Linked List for example or in many other ways!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Let’s look at a code example and do one together!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FB2C7FAB-2C17-0F42-C82D-52855AE43180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2. Stack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2BA0FA3-AB65-0217-CDF6-2430D4CBA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14,824 Stack Of Plates Stock Photos, High-Res Pictures, and ...">
            <a:extLst>
              <a:ext uri="{FF2B5EF4-FFF2-40B4-BE49-F238E27FC236}">
                <a16:creationId xmlns:a16="http://schemas.microsoft.com/office/drawing/2014/main" id="{EA5FAF6B-8ABB-816F-9E22-3EA24111E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487118"/>
            <a:ext cx="3886200" cy="582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kstiruutu 6">
            <a:extLst>
              <a:ext uri="{FF2B5EF4-FFF2-40B4-BE49-F238E27FC236}">
                <a16:creationId xmlns:a16="http://schemas.microsoft.com/office/drawing/2014/main" id="{231E12DD-4E8A-B6E3-BF34-E55B52E0F727}"/>
              </a:ext>
            </a:extLst>
          </p:cNvPr>
          <p:cNvSpPr txBox="1"/>
          <p:nvPr/>
        </p:nvSpPr>
        <p:spPr>
          <a:xfrm>
            <a:off x="652463" y="6316418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GettyImages</a:t>
            </a:r>
            <a:endParaRPr lang="en-FI" sz="8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34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8813E-C140-2535-2D78-CF8D367CB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D9575C62-00AC-6668-E51B-F5C134E0E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7" y="1363418"/>
            <a:ext cx="5780741" cy="4953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ADT = Abstract Data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FIFO = First-In/First-Out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First element we put in, is the first one to be taken 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Can also be implemented using a Linked List for example or in many other ways!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Let’s look at a code example and do one together!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7C58BCB5-7319-F119-61A8-53EB042F6517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3. Queue</a:t>
            </a:r>
            <a:endParaRPr lang="en-FI" sz="2800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0FEC69A-AE43-241D-ED68-5A8143210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Queue Vectors - Download Free High-Quality Vectors from Freepik | Freepik">
            <a:extLst>
              <a:ext uri="{FF2B5EF4-FFF2-40B4-BE49-F238E27FC236}">
                <a16:creationId xmlns:a16="http://schemas.microsoft.com/office/drawing/2014/main" id="{E9E773A0-A0FD-AEA9-998B-E6C713A14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49" y="595872"/>
            <a:ext cx="4614863" cy="447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kstiruutu 4">
            <a:extLst>
              <a:ext uri="{FF2B5EF4-FFF2-40B4-BE49-F238E27FC236}">
                <a16:creationId xmlns:a16="http://schemas.microsoft.com/office/drawing/2014/main" id="{CBC41EC2-F21C-C02D-D920-271FAA139111}"/>
              </a:ext>
            </a:extLst>
          </p:cNvPr>
          <p:cNvSpPr txBox="1"/>
          <p:nvPr/>
        </p:nvSpPr>
        <p:spPr>
          <a:xfrm>
            <a:off x="260349" y="5067300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Freepik</a:t>
            </a:r>
            <a:endParaRPr lang="en-FI" sz="8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664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6" name="Picture 10">
            <a:extLst>
              <a:ext uri="{FF2B5EF4-FFF2-40B4-BE49-F238E27FC236}">
                <a16:creationId xmlns:a16="http://schemas.microsoft.com/office/drawing/2014/main" id="{A4ED44E5-5846-1E40-FAF4-6248A66A4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838" y="2879725"/>
            <a:ext cx="5734050" cy="286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kstiruutu 7">
            <a:extLst>
              <a:ext uri="{FF2B5EF4-FFF2-40B4-BE49-F238E27FC236}">
                <a16:creationId xmlns:a16="http://schemas.microsoft.com/office/drawing/2014/main" id="{07E6C2AF-A9B5-7C65-FB70-8270A73241B2}"/>
              </a:ext>
            </a:extLst>
          </p:cNvPr>
          <p:cNvSpPr txBox="1"/>
          <p:nvPr/>
        </p:nvSpPr>
        <p:spPr>
          <a:xfrm>
            <a:off x="5811838" y="2510393"/>
            <a:ext cx="400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Queue</a:t>
            </a:r>
            <a:endParaRPr lang="en-FI" b="1" dirty="0">
              <a:solidFill>
                <a:schemeClr val="accent1"/>
              </a:solidFill>
            </a:endParaRPr>
          </a:p>
        </p:txBody>
      </p:sp>
      <p:pic>
        <p:nvPicPr>
          <p:cNvPr id="14350" name="Picture 14">
            <a:extLst>
              <a:ext uri="{FF2B5EF4-FFF2-40B4-BE49-F238E27FC236}">
                <a16:creationId xmlns:a16="http://schemas.microsoft.com/office/drawing/2014/main" id="{60F27EFE-7D61-EC54-C660-20198E1CDB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30" r="12542"/>
          <a:stretch>
            <a:fillRect/>
          </a:stretch>
        </p:blipFill>
        <p:spPr bwMode="auto">
          <a:xfrm>
            <a:off x="558800" y="947738"/>
            <a:ext cx="4095750" cy="286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kstiruutu 9">
            <a:extLst>
              <a:ext uri="{FF2B5EF4-FFF2-40B4-BE49-F238E27FC236}">
                <a16:creationId xmlns:a16="http://schemas.microsoft.com/office/drawing/2014/main" id="{90113DE3-43E3-5133-2B5A-4FAC294D251C}"/>
              </a:ext>
            </a:extLst>
          </p:cNvPr>
          <p:cNvSpPr txBox="1"/>
          <p:nvPr/>
        </p:nvSpPr>
        <p:spPr>
          <a:xfrm>
            <a:off x="558800" y="578406"/>
            <a:ext cx="400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Stack</a:t>
            </a:r>
            <a:endParaRPr lang="en-FI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118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67BE1-3F73-F1E2-7B1F-5B8F6A51E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C739-F032-021A-E0F0-DB957E5E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you next time!</a:t>
            </a:r>
            <a:endParaRPr lang="en-FI" dirty="0"/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938C3F7F-9A4F-B791-323C-AEEFCAB7F921}"/>
              </a:ext>
            </a:extLst>
          </p:cNvPr>
          <p:cNvSpPr txBox="1"/>
          <p:nvPr/>
        </p:nvSpPr>
        <p:spPr>
          <a:xfrm>
            <a:off x="8723249" y="5544836"/>
            <a:ext cx="346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tino.kankkunen@metropolia.fi</a:t>
            </a:r>
            <a:endParaRPr lang="en-FI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065843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a_webmaster">
  <a:themeElements>
    <a:clrScheme name="Metropolia_Webmaster">
      <a:dk1>
        <a:srgbClr val="FFFFFF"/>
      </a:dk1>
      <a:lt1>
        <a:srgbClr val="FFFFFF"/>
      </a:lt1>
      <a:dk2>
        <a:srgbClr val="53565A"/>
      </a:dk2>
      <a:lt2>
        <a:srgbClr val="53565A"/>
      </a:lt2>
      <a:accent1>
        <a:srgbClr val="FF5000"/>
      </a:accent1>
      <a:accent2>
        <a:srgbClr val="C2D500"/>
      </a:accent2>
      <a:accent3>
        <a:srgbClr val="00A0E1"/>
      </a:accent3>
      <a:accent4>
        <a:srgbClr val="E6007D"/>
      </a:accent4>
      <a:accent5>
        <a:srgbClr val="FFF000"/>
      </a:accent5>
      <a:accent6>
        <a:srgbClr val="FFFFFF"/>
      </a:accent6>
      <a:hlink>
        <a:srgbClr val="FF5000"/>
      </a:hlink>
      <a:folHlink>
        <a:srgbClr val="BC3A00"/>
      </a:folHlink>
    </a:clrScheme>
    <a:fontScheme name="Metropolia_web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0" id="{6C10D4A0-BE87-C045-BD2D-C32C846522EC}" vid="{968EBCE1-44A0-8648-ACBB-F37263CC06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Metropolia_webmaster</Template>
  <TotalTime>5402</TotalTime>
  <Words>1097</Words>
  <Application>Microsoft Office PowerPoint</Application>
  <PresentationFormat>Mukautettu</PresentationFormat>
  <Paragraphs>179</Paragraphs>
  <Slides>21</Slides>
  <Notes>13</Notes>
  <HiddenSlides>0</HiddenSlides>
  <MMClips>0</MMClips>
  <ScaleCrop>false</ScaleCrop>
  <HeadingPairs>
    <vt:vector size="6" baseType="variant">
      <vt:variant>
        <vt:lpstr>Käytetyt fontit</vt:lpstr>
      </vt:variant>
      <vt:variant>
        <vt:i4>5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21</vt:i4>
      </vt:variant>
    </vt:vector>
  </HeadingPairs>
  <TitlesOfParts>
    <vt:vector size="27" baseType="lpstr">
      <vt:lpstr>Arial</vt:lpstr>
      <vt:lpstr>Calibri</vt:lpstr>
      <vt:lpstr>Consolas</vt:lpstr>
      <vt:lpstr>Segoe UI</vt:lpstr>
      <vt:lpstr>Wingdings</vt:lpstr>
      <vt:lpstr>Metropolia_webmaster</vt:lpstr>
      <vt:lpstr>CH4 Lists revision + Intro to Stack &amp; Queue</vt:lpstr>
      <vt:lpstr>Agenda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See you next time!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Sakari Malmberg</dc:creator>
  <cp:keywords/>
  <dc:description/>
  <cp:lastModifiedBy>Tino Kankkunen</cp:lastModifiedBy>
  <cp:revision>1729</cp:revision>
  <dcterms:created xsi:type="dcterms:W3CDTF">2024-05-03T06:20:06Z</dcterms:created>
  <dcterms:modified xsi:type="dcterms:W3CDTF">2026-01-21T14:32:24Z</dcterms:modified>
  <cp:category/>
</cp:coreProperties>
</file>